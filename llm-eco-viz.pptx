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60" r:id="rId2"/>
    <p:sldId id="16672270" r:id="rId3"/>
    <p:sldId id="16672254" r:id="rId4"/>
    <p:sldId id="16672259" r:id="rId5"/>
    <p:sldId id="16672260" r:id="rId6"/>
    <p:sldId id="16672272" r:id="rId7"/>
    <p:sldId id="16672276" r:id="rId8"/>
    <p:sldId id="16672275" r:id="rId9"/>
    <p:sldId id="16672273" r:id="rId10"/>
    <p:sldId id="16672280" r:id="rId11"/>
    <p:sldId id="16672274" r:id="rId12"/>
    <p:sldId id="16672278" r:id="rId13"/>
    <p:sldId id="16672279" r:id="rId14"/>
    <p:sldId id="16672284" r:id="rId15"/>
    <p:sldId id="16672268" r:id="rId16"/>
    <p:sldId id="16672264" r:id="rId17"/>
    <p:sldId id="16672267" r:id="rId18"/>
    <p:sldId id="1667229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F64FF"/>
    <a:srgbClr val="0E43C7"/>
    <a:srgbClr val="415FFF"/>
    <a:srgbClr val="0E43C6"/>
    <a:srgbClr val="384FF9"/>
    <a:srgbClr val="FCBF11"/>
    <a:srgbClr val="F3F2F1"/>
    <a:srgbClr val="001674"/>
    <a:srgbClr val="EFF2FF"/>
    <a:srgbClr val="001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92065"/>
  </p:normalViewPr>
  <p:slideViewPr>
    <p:cSldViewPr snapToGrid="0" snapToObjects="1">
      <p:cViewPr varScale="1">
        <p:scale>
          <a:sx n="67" d="100"/>
          <a:sy n="67" d="100"/>
        </p:scale>
        <p:origin x="160" y="5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20" d="100"/>
        <a:sy n="20" d="100"/>
      </p:scale>
      <p:origin x="0" y="0"/>
    </p:cViewPr>
  </p:sorterViewPr>
  <p:notesViewPr>
    <p:cSldViewPr snapToGrid="0" snapToObjects="1">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0B6A7B-1B4F-1140-92A6-C6824A8D2ECC}" type="slidenum">
              <a:rPr kumimoji="1" lang="zh-CN" altLang="en-US" smtClean="0"/>
              <a:t>‹#›</a:t>
            </a:fld>
            <a:endParaRPr kumimoji="1" lang="zh-CN" altLang="en-US"/>
          </a:p>
        </p:txBody>
      </p:sp>
      <p:sp>
        <p:nvSpPr>
          <p:cNvPr id="6" name="日期占位符 5"/>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23F247-190E-8442-A6E6-7354B66410C5}" type="datetimeFigureOut">
              <a:rPr kumimoji="1" lang="zh-CN" altLang="en-US" smtClean="0"/>
              <a:t>2026/1/1</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F4C82-C2E4-B543-8475-BD56381FBFD2}" type="datetimeFigureOut">
              <a:rPr kumimoji="1" lang="zh-CN" altLang="en-US" smtClean="0"/>
              <a:t>2026/1/1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F5093F-09A4-C64B-A363-EE9B37DE086C}"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F5093F-09A4-C64B-A363-EE9B37DE086C}" type="slidenum">
              <a:rPr kumimoji="1" lang="zh-CN" altLang="en-US" smtClean="0"/>
              <a:t>1</a:t>
            </a:fld>
            <a:endParaRPr kumimoji="1" lang="zh-CN" altLang="en-US"/>
          </a:p>
        </p:txBody>
      </p:sp>
    </p:spTree>
    <p:extLst>
      <p:ext uri="{BB962C8B-B14F-4D97-AF65-F5344CB8AC3E}">
        <p14:creationId xmlns:p14="http://schemas.microsoft.com/office/powerpoint/2010/main" val="2818735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FF5093F-09A4-C64B-A363-EE9B37DE086C}" type="slidenum">
              <a:rPr kumimoji="1" lang="zh-CN" altLang="en-US" smtClean="0"/>
              <a:t>11</a:t>
            </a:fld>
            <a:endParaRPr kumimoji="1" lang="zh-CN" altLang="en-US"/>
          </a:p>
        </p:txBody>
      </p:sp>
    </p:spTree>
    <p:extLst>
      <p:ext uri="{BB962C8B-B14F-4D97-AF65-F5344CB8AC3E}">
        <p14:creationId xmlns:p14="http://schemas.microsoft.com/office/powerpoint/2010/main" val="1479166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93A19-0E4B-7394-C83A-F4C0EB582A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47E0CF-0040-2277-D300-80278680A5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982A37-371F-63C6-F353-B7C1442897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AC92076-77C3-0BDE-3423-DEE50253B54D}"/>
              </a:ext>
            </a:extLst>
          </p:cNvPr>
          <p:cNvSpPr>
            <a:spLocks noGrp="1"/>
          </p:cNvSpPr>
          <p:nvPr>
            <p:ph type="sldNum" sz="quarter" idx="5"/>
          </p:nvPr>
        </p:nvSpPr>
        <p:spPr/>
        <p:txBody>
          <a:bodyPr/>
          <a:lstStyle/>
          <a:p>
            <a:fld id="{CFF5093F-09A4-C64B-A363-EE9B37DE086C}" type="slidenum">
              <a:rPr kumimoji="1" lang="zh-CN" altLang="en-US" smtClean="0"/>
              <a:t>12</a:t>
            </a:fld>
            <a:endParaRPr kumimoji="1" lang="zh-CN" altLang="en-US"/>
          </a:p>
        </p:txBody>
      </p:sp>
    </p:spTree>
    <p:extLst>
      <p:ext uri="{BB962C8B-B14F-4D97-AF65-F5344CB8AC3E}">
        <p14:creationId xmlns:p14="http://schemas.microsoft.com/office/powerpoint/2010/main" val="3265272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14154-24D2-45F7-8FC1-B52276E506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ED752B-DF55-6CA4-A2CE-39F628499F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4522BF8-9A0C-AEF7-DB35-674B2C62BBC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63F0C49-6F5C-B5DD-ADF7-AD31CEC37A2F}"/>
              </a:ext>
            </a:extLst>
          </p:cNvPr>
          <p:cNvSpPr>
            <a:spLocks noGrp="1"/>
          </p:cNvSpPr>
          <p:nvPr>
            <p:ph type="sldNum" sz="quarter" idx="5"/>
          </p:nvPr>
        </p:nvSpPr>
        <p:spPr/>
        <p:txBody>
          <a:bodyPr/>
          <a:lstStyle/>
          <a:p>
            <a:fld id="{CFF5093F-09A4-C64B-A363-EE9B37DE086C}" type="slidenum">
              <a:rPr kumimoji="1" lang="zh-CN" altLang="en-US" smtClean="0"/>
              <a:t>13</a:t>
            </a:fld>
            <a:endParaRPr kumimoji="1" lang="zh-CN" altLang="en-US"/>
          </a:p>
        </p:txBody>
      </p:sp>
    </p:spTree>
    <p:extLst>
      <p:ext uri="{BB962C8B-B14F-4D97-AF65-F5344CB8AC3E}">
        <p14:creationId xmlns:p14="http://schemas.microsoft.com/office/powerpoint/2010/main" val="1963107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F661A-5DB7-10DE-7ECF-CB7933AE1D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447415-257F-088A-EC5D-CB65E517619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6FC08F0-0CB1-69F6-67E9-5E182BF01E4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B2EC914-B1C7-7860-58E3-8372FF702467}"/>
              </a:ext>
            </a:extLst>
          </p:cNvPr>
          <p:cNvSpPr>
            <a:spLocks noGrp="1"/>
          </p:cNvSpPr>
          <p:nvPr>
            <p:ph type="sldNum" sz="quarter" idx="5"/>
          </p:nvPr>
        </p:nvSpPr>
        <p:spPr/>
        <p:txBody>
          <a:bodyPr/>
          <a:lstStyle/>
          <a:p>
            <a:fld id="{CFF5093F-09A4-C64B-A363-EE9B37DE086C}" type="slidenum">
              <a:rPr kumimoji="1" lang="zh-CN" altLang="en-US" smtClean="0"/>
              <a:t>14</a:t>
            </a:fld>
            <a:endParaRPr kumimoji="1" lang="zh-CN" altLang="en-US"/>
          </a:p>
        </p:txBody>
      </p:sp>
    </p:spTree>
    <p:extLst>
      <p:ext uri="{BB962C8B-B14F-4D97-AF65-F5344CB8AC3E}">
        <p14:creationId xmlns:p14="http://schemas.microsoft.com/office/powerpoint/2010/main" val="2577823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B7F2403-3A2B-7341-859C-AF9A1DF858CC}" type="datetimeFigureOut">
              <a:rPr kumimoji="1" lang="zh-CN" altLang="en-US" smtClean="0"/>
              <a:t>2026/1/1</a:t>
            </a:fld>
            <a:endParaRPr kumimoji="1" lang="zh-CN" altLang="en-US" dirty="0"/>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3A479002-77F2-A247-957C-A41EAB498415}"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bg>
      <p:bgRef idx="1001">
        <a:schemeClr val="bg1"/>
      </p:bgRef>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rcRect l="1639" t="1639"/>
          <a:stretch>
            <a:fillRect/>
          </a:stretch>
        </p:blipFill>
        <p:spPr>
          <a:xfrm>
            <a:off x="0" y="0"/>
            <a:ext cx="12192000" cy="6858000"/>
          </a:xfrm>
          <a:prstGeom prst="rect">
            <a:avLst/>
          </a:prstGeom>
        </p:spPr>
      </p:pic>
    </p:spTree>
    <p:extLst>
      <p:ext uri="{BB962C8B-B14F-4D97-AF65-F5344CB8AC3E}">
        <p14:creationId xmlns:p14="http://schemas.microsoft.com/office/powerpoint/2010/main" val="11575566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Tm="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Tm="0">
        <p:random/>
      </p:transition>
    </mc:Fallback>
  </mc:AlternateContent>
  <p:hf sldNum="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7F2403-3A2B-7341-859C-AF9A1DF858CC}" type="datetimeFigureOut">
              <a:rPr kumimoji="1" lang="zh-CN" altLang="en-US" smtClean="0"/>
              <a:t>2026/1/1</a:t>
            </a:fld>
            <a:endParaRPr kumimoji="1" lang="zh-CN" alt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479002-77F2-A247-957C-A41EAB498415}"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17" Type="http://schemas.openxmlformats.org/officeDocument/2006/relationships/image" Target="../media/image42.svg"/><Relationship Id="rId2" Type="http://schemas.openxmlformats.org/officeDocument/2006/relationships/notesSlide" Target="../notesSlides/notesSlide4.xml"/><Relationship Id="rId16"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5" Type="http://schemas.openxmlformats.org/officeDocument/2006/relationships/image" Target="../media/image40.sv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sv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a:spLocks noChangeArrowheads="1"/>
          </p:cNvSpPr>
          <p:nvPr/>
        </p:nvSpPr>
        <p:spPr bwMode="auto">
          <a:xfrm>
            <a:off x="516764" y="914886"/>
            <a:ext cx="11675236"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74725" eaLnBrk="0" hangingPunct="0">
              <a:defRPr>
                <a:solidFill>
                  <a:schemeClr val="tx1"/>
                </a:solidFill>
                <a:latin typeface="Calibri" panose="020F0502020204030204" pitchFamily="34" charset="0"/>
                <a:ea typeface="宋体" panose="02010600030101010101" pitchFamily="2" charset="-122"/>
              </a:defRPr>
            </a:lvl1pPr>
            <a:lvl2pPr marL="742950" indent="-285750" defTabSz="974725" eaLnBrk="0" hangingPunct="0">
              <a:defRPr>
                <a:solidFill>
                  <a:schemeClr val="tx1"/>
                </a:solidFill>
                <a:latin typeface="Calibri" panose="020F0502020204030204" pitchFamily="34" charset="0"/>
                <a:ea typeface="宋体" panose="02010600030101010101" pitchFamily="2" charset="-122"/>
              </a:defRPr>
            </a:lvl2pPr>
            <a:lvl3pPr marL="1143000" indent="-228600" defTabSz="974725" eaLnBrk="0" hangingPunct="0">
              <a:defRPr>
                <a:solidFill>
                  <a:schemeClr val="tx1"/>
                </a:solidFill>
                <a:latin typeface="Calibri" panose="020F0502020204030204" pitchFamily="34" charset="0"/>
                <a:ea typeface="宋体" panose="02010600030101010101" pitchFamily="2" charset="-122"/>
              </a:defRPr>
            </a:lvl3pPr>
            <a:lvl4pPr marL="1600200" indent="-228600" defTabSz="974725" eaLnBrk="0" hangingPunct="0">
              <a:defRPr>
                <a:solidFill>
                  <a:schemeClr val="tx1"/>
                </a:solidFill>
                <a:latin typeface="Calibri" panose="020F0502020204030204" pitchFamily="34" charset="0"/>
                <a:ea typeface="宋体" panose="02010600030101010101" pitchFamily="2" charset="-122"/>
              </a:defRPr>
            </a:lvl4pPr>
            <a:lvl5pPr marL="2057400" indent="-228600" defTabSz="974725" eaLnBrk="0" hangingPunct="0">
              <a:defRPr>
                <a:solidFill>
                  <a:schemeClr val="tx1"/>
                </a:solidFill>
                <a:latin typeface="Calibri" panose="020F0502020204030204" pitchFamily="34" charset="0"/>
                <a:ea typeface="宋体" panose="02010600030101010101" pitchFamily="2" charset="-122"/>
              </a:defRPr>
            </a:lvl5pPr>
            <a:lvl6pPr marL="2514600" indent="-228600" defTabSz="9747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9747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9747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974725"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r>
              <a:rPr lang="en-US" altLang="zh-CN" sz="5000" b="1" dirty="0">
                <a:solidFill>
                  <a:schemeClr val="bg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LLM Ecosystem Visualization</a:t>
            </a:r>
          </a:p>
          <a:p>
            <a:pPr fontAlgn="base"/>
            <a:r>
              <a:rPr kumimoji="1" lang="en-US" altLang="zh-CN" sz="5400" b="1" dirty="0">
                <a:solidFill>
                  <a:schemeClr val="bg1"/>
                </a:solidFill>
                <a:latin typeface="VIVO SANS SC VF 400" panose="02000600000000000000" pitchFamily="2" charset="-122"/>
                <a:ea typeface="VIVO SANS SC VF 400" panose="02000600000000000000" pitchFamily="2" charset="-122"/>
                <a:cs typeface="VIVO SANS SC VF 400" panose="02000600000000000000" pitchFamily="2" charset="-122"/>
              </a:rPr>
              <a:t>——</a:t>
            </a:r>
            <a:r>
              <a:rPr kumimoji="1" lang="zh-CN" altLang="en-US" sz="5400" b="1" dirty="0">
                <a:solidFill>
                  <a:schemeClr val="bg1"/>
                </a:solidFill>
                <a:latin typeface="VIVO SANS SC VF 400" panose="02000600000000000000" pitchFamily="2" charset="-122"/>
                <a:ea typeface="VIVO SANS SC VF 400" panose="02000600000000000000" pitchFamily="2" charset="-122"/>
                <a:cs typeface="VIVO SANS SC VF 400" panose="02000600000000000000" pitchFamily="2" charset="-122"/>
              </a:rPr>
              <a:t>开源</a:t>
            </a:r>
            <a:r>
              <a:rPr kumimoji="1" lang="en-US" altLang="zh-CN" sz="5400" b="1" dirty="0">
                <a:solidFill>
                  <a:schemeClr val="bg1"/>
                </a:solidFill>
                <a:latin typeface="VIVO SANS SC VF 400" panose="02000600000000000000" pitchFamily="2" charset="-122"/>
                <a:ea typeface="VIVO SANS SC VF 400" panose="02000600000000000000" pitchFamily="2" charset="-122"/>
                <a:cs typeface="VIVO SANS SC VF 400" panose="02000600000000000000" pitchFamily="2" charset="-122"/>
              </a:rPr>
              <a:t>AI</a:t>
            </a:r>
            <a:r>
              <a:rPr kumimoji="1" lang="zh-CN" altLang="en-US" sz="5400" b="1" dirty="0">
                <a:solidFill>
                  <a:schemeClr val="bg1"/>
                </a:solidFill>
                <a:latin typeface="VIVO SANS SC VF 400" panose="02000600000000000000" pitchFamily="2" charset="-122"/>
                <a:ea typeface="VIVO SANS SC VF 400" panose="02000600000000000000" pitchFamily="2" charset="-122"/>
                <a:cs typeface="VIVO SANS SC VF 400" panose="02000600000000000000" pitchFamily="2" charset="-122"/>
              </a:rPr>
              <a:t>大模型生态分析与可视化</a:t>
            </a:r>
            <a:endParaRPr kumimoji="1" lang="en-US" altLang="zh-CN" sz="5400" b="1" dirty="0">
              <a:solidFill>
                <a:schemeClr val="bg1"/>
              </a:solidFill>
              <a:latin typeface="VIVO SANS SC VF 400" panose="02000600000000000000" pitchFamily="2" charset="-122"/>
              <a:ea typeface="VIVO SANS SC VF 400" panose="02000600000000000000" pitchFamily="2" charset="-122"/>
              <a:cs typeface="VIVO SANS SC VF 400" panose="02000600000000000000" pitchFamily="2" charset="-122"/>
            </a:endParaRPr>
          </a:p>
          <a:p>
            <a:pPr fontAlgn="base"/>
            <a:r>
              <a:rPr lang="en-US" altLang="zh-CN" sz="2800" b="1" dirty="0">
                <a:solidFill>
                  <a:schemeClr val="bg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rPr>
              <a:t>						</a:t>
            </a:r>
            <a:endParaRPr lang="zh-CN" altLang="en-US" sz="2800" b="1" dirty="0">
              <a:solidFill>
                <a:schemeClr val="bg1"/>
              </a:solidFill>
              <a:latin typeface="Arial" panose="020B0604020202020204" pitchFamily="34" charset="0"/>
              <a:ea typeface="微软雅黑" panose="020B0503020204020204" pitchFamily="34" charset="-122"/>
              <a:cs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BF32302-4C33-3D2B-378B-2D33A0DA6A22}"/>
              </a:ext>
            </a:extLst>
          </p:cNvPr>
          <p:cNvSpPr txBox="1"/>
          <p:nvPr/>
        </p:nvSpPr>
        <p:spPr>
          <a:xfrm>
            <a:off x="3227579" y="349193"/>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目录</a:t>
            </a:r>
          </a:p>
        </p:txBody>
      </p:sp>
      <p:sp>
        <p:nvSpPr>
          <p:cNvPr id="3" name="文本框 2">
            <a:extLst>
              <a:ext uri="{FF2B5EF4-FFF2-40B4-BE49-F238E27FC236}">
                <a16:creationId xmlns:a16="http://schemas.microsoft.com/office/drawing/2014/main" id="{3683FD66-EE0C-E2B2-CA33-102B81557418}"/>
              </a:ext>
            </a:extLst>
          </p:cNvPr>
          <p:cNvSpPr txBox="1"/>
          <p:nvPr/>
        </p:nvSpPr>
        <p:spPr>
          <a:xfrm>
            <a:off x="775531" y="1425419"/>
            <a:ext cx="10640937" cy="4600234"/>
          </a:xfrm>
          <a:prstGeom prst="rect">
            <a:avLst/>
          </a:prstGeom>
          <a:noFill/>
        </p:spPr>
        <p:txBody>
          <a:bodyPr wrap="square">
            <a:spAutoFit/>
          </a:bodyPr>
          <a:lstStyle/>
          <a:p>
            <a:pPr>
              <a:lnSpc>
                <a:spcPct val="150000"/>
              </a:lnSpc>
            </a:pPr>
            <a:r>
              <a:rPr lang="zh-CN" altLang="en-US"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一、需求洞察</a:t>
            </a:r>
            <a:endParaRPr lang="en-US" altLang="zh-CN"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endParaRPr>
          </a:p>
          <a:p>
            <a:pPr>
              <a:lnSpc>
                <a:spcPct val="150000"/>
              </a:lnSpc>
            </a:pPr>
            <a:r>
              <a:rPr lang="zh-CN" altLang="en-US"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endParaRPr lang="en-US" altLang="zh-CN" sz="4000" dirty="0">
              <a:ln w="13462">
                <a:noFill/>
                <a:prstDash val="solid"/>
              </a:ln>
              <a:effectLst>
                <a:outerShdw dist="38100" dir="2700000" algn="bl" rotWithShape="0">
                  <a:schemeClr val="accent5"/>
                </a:outerShdw>
              </a:effectLst>
              <a:latin typeface="微软雅黑" panose="020B0503020204020204" pitchFamily="34" charset="-122"/>
              <a:ea typeface="微软雅黑" panose="020B0503020204020204" pitchFamily="34" charset="-122"/>
            </a:endParaRPr>
          </a:p>
          <a:p>
            <a:pPr>
              <a:lnSpc>
                <a:spcPct val="150000"/>
              </a:lnSpc>
            </a:pPr>
            <a:r>
              <a:rPr lang="zh-CN" altLang="en-US"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三、技术细节</a:t>
            </a:r>
            <a:endParaRPr lang="en-US" altLang="zh-CN"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endParaRPr>
          </a:p>
          <a:p>
            <a:pPr>
              <a:lnSpc>
                <a:spcPct val="150000"/>
              </a:lnSpc>
            </a:pPr>
            <a:r>
              <a:rPr lang="zh-CN" altLang="en-US"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四、难点与创新</a:t>
            </a:r>
            <a:endParaRPr lang="en-US" altLang="zh-CN"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endParaRPr>
          </a:p>
          <a:p>
            <a:pPr>
              <a:lnSpc>
                <a:spcPct val="150000"/>
              </a:lnSpc>
            </a:pPr>
            <a:r>
              <a:rPr lang="zh-CN" altLang="en-US" sz="40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五、应用价值</a:t>
            </a:r>
          </a:p>
        </p:txBody>
      </p:sp>
    </p:spTree>
    <p:extLst>
      <p:ext uri="{BB962C8B-B14F-4D97-AF65-F5344CB8AC3E}">
        <p14:creationId xmlns:p14="http://schemas.microsoft.com/office/powerpoint/2010/main" val="103981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66B957E-B634-4E10-74C8-2D029E837153}"/>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一、需求洞察</a:t>
            </a:r>
          </a:p>
        </p:txBody>
      </p:sp>
      <p:sp>
        <p:nvSpPr>
          <p:cNvPr id="3" name="文本框 2">
            <a:extLst>
              <a:ext uri="{FF2B5EF4-FFF2-40B4-BE49-F238E27FC236}">
                <a16:creationId xmlns:a16="http://schemas.microsoft.com/office/drawing/2014/main" id="{0D2E7B52-AFBF-0514-9E8E-9883D672E3A1}"/>
              </a:ext>
            </a:extLst>
          </p:cNvPr>
          <p:cNvSpPr txBox="1"/>
          <p:nvPr/>
        </p:nvSpPr>
        <p:spPr>
          <a:xfrm>
            <a:off x="789063" y="2259638"/>
            <a:ext cx="4976470" cy="4200252"/>
          </a:xfrm>
          <a:prstGeom prst="rect">
            <a:avLst/>
          </a:prstGeom>
          <a:noFill/>
        </p:spPr>
        <p:txBody>
          <a:bodyPr wrap="square" rtlCol="0">
            <a:spAutoFit/>
          </a:bodyPr>
          <a:lstStyle/>
          <a:p>
            <a:pPr>
              <a:lnSpc>
                <a:spcPct val="150000"/>
              </a:lnSpc>
            </a:pPr>
            <a:r>
              <a:rPr lang="en-US" altLang="zh-CN" sz="2000" dirty="0"/>
              <a:t>	</a:t>
            </a:r>
            <a:r>
              <a:rPr lang="zh-CN" altLang="en-US" sz="2000" dirty="0"/>
              <a:t>近几年来，</a:t>
            </a:r>
            <a:r>
              <a:rPr lang="en-US" altLang="zh-CN" sz="2000" dirty="0"/>
              <a:t>AI</a:t>
            </a:r>
            <a:r>
              <a:rPr lang="zh-CN" altLang="en-US" sz="2000" dirty="0"/>
              <a:t>大语言模型这一新兴领域蓬勃发展，大模型开发门槛越来越低，已经成为一个不可忽视的开源门类，形成了比较独立且庞大的开源生态系统，甚至有了专门的开源平台</a:t>
            </a:r>
            <a:r>
              <a:rPr lang="en-US" altLang="zh-CN" sz="2000" dirty="0"/>
              <a:t>Hugging Face</a:t>
            </a:r>
            <a:r>
              <a:rPr lang="zh-CN" altLang="en-US" sz="2000" dirty="0"/>
              <a:t>。而目前</a:t>
            </a:r>
            <a:r>
              <a:rPr lang="en-US" altLang="zh-CN" sz="2000" dirty="0" err="1"/>
              <a:t>OpenDigger</a:t>
            </a:r>
            <a:r>
              <a:rPr lang="zh-CN" altLang="en-US" sz="2000" dirty="0"/>
              <a:t> 开源社区落地的下游应用主要针对广泛的 </a:t>
            </a:r>
            <a:r>
              <a:rPr lang="en-US" altLang="zh-CN" sz="2000" dirty="0"/>
              <a:t>GitHub </a:t>
            </a:r>
            <a:r>
              <a:rPr lang="zh-CN" altLang="en-US" sz="2000" dirty="0"/>
              <a:t>平台上的开源代码仓库的分析，对于</a:t>
            </a:r>
            <a:r>
              <a:rPr lang="en-US" altLang="zh-CN" sz="2000" dirty="0"/>
              <a:t>AI</a:t>
            </a:r>
            <a:r>
              <a:rPr lang="zh-CN" altLang="en-US" sz="2000" dirty="0"/>
              <a:t>大模型这一领域的专门可视化分析与网络构建，目前是缺少的。</a:t>
            </a:r>
            <a:endParaRPr lang="en-US" altLang="zh-CN" sz="2000" dirty="0"/>
          </a:p>
        </p:txBody>
      </p:sp>
      <p:sp>
        <p:nvSpPr>
          <p:cNvPr id="2" name="文本框 1">
            <a:extLst>
              <a:ext uri="{FF2B5EF4-FFF2-40B4-BE49-F238E27FC236}">
                <a16:creationId xmlns:a16="http://schemas.microsoft.com/office/drawing/2014/main" id="{6058C0EA-CAB5-7F4E-F0D4-772B39EDC33B}"/>
              </a:ext>
            </a:extLst>
          </p:cNvPr>
          <p:cNvSpPr txBox="1"/>
          <p:nvPr/>
        </p:nvSpPr>
        <p:spPr>
          <a:xfrm>
            <a:off x="647747" y="1615964"/>
            <a:ext cx="3828000" cy="400110"/>
          </a:xfrm>
          <a:prstGeom prst="rect">
            <a:avLst/>
          </a:prstGeom>
          <a:noFill/>
        </p:spPr>
        <p:txBody>
          <a:bodyPr wrap="square" rtlCol="0">
            <a:spAutoFit/>
          </a:bodyPr>
          <a:lstStyle/>
          <a:p>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开源</a:t>
            </a:r>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AI</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大模型可视化分析缺失</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9B455A55-F69C-B45A-DD92-B6854C2643EF}"/>
              </a:ext>
            </a:extLst>
          </p:cNvPr>
          <p:cNvSpPr/>
          <p:nvPr/>
        </p:nvSpPr>
        <p:spPr>
          <a:xfrm>
            <a:off x="789063" y="2043119"/>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425ABAB3-6570-834C-0D6B-F10E3D754666}"/>
              </a:ext>
            </a:extLst>
          </p:cNvPr>
          <p:cNvGrpSpPr/>
          <p:nvPr/>
        </p:nvGrpSpPr>
        <p:grpSpPr>
          <a:xfrm>
            <a:off x="5765533" y="1469765"/>
            <a:ext cx="6426467" cy="5102297"/>
            <a:chOff x="5765533" y="1469765"/>
            <a:chExt cx="6426467" cy="5102297"/>
          </a:xfrm>
        </p:grpSpPr>
        <p:pic>
          <p:nvPicPr>
            <p:cNvPr id="12" name="图片 11">
              <a:extLst>
                <a:ext uri="{FF2B5EF4-FFF2-40B4-BE49-F238E27FC236}">
                  <a16:creationId xmlns:a16="http://schemas.microsoft.com/office/drawing/2014/main" id="{23065D3A-AB71-72C9-5685-3B74A7D2C2D9}"/>
                </a:ext>
              </a:extLst>
            </p:cNvPr>
            <p:cNvPicPr>
              <a:picLocks noChangeAspect="1"/>
            </p:cNvPicPr>
            <p:nvPr/>
          </p:nvPicPr>
          <p:blipFill>
            <a:blip r:embed="rId2"/>
            <a:srcRect b="37063"/>
            <a:stretch/>
          </p:blipFill>
          <p:spPr>
            <a:xfrm>
              <a:off x="6400373" y="1469765"/>
              <a:ext cx="5386888" cy="3186886"/>
            </a:xfrm>
            <a:prstGeom prst="rect">
              <a:avLst/>
            </a:prstGeom>
          </p:spPr>
        </p:pic>
        <p:pic>
          <p:nvPicPr>
            <p:cNvPr id="14" name="图片 13">
              <a:extLst>
                <a:ext uri="{FF2B5EF4-FFF2-40B4-BE49-F238E27FC236}">
                  <a16:creationId xmlns:a16="http://schemas.microsoft.com/office/drawing/2014/main" id="{4B644485-0D5A-85AF-5927-F9042C6A1BD8}"/>
                </a:ext>
              </a:extLst>
            </p:cNvPr>
            <p:cNvPicPr>
              <a:picLocks noChangeAspect="1"/>
            </p:cNvPicPr>
            <p:nvPr/>
          </p:nvPicPr>
          <p:blipFill>
            <a:blip r:embed="rId3"/>
            <a:stretch>
              <a:fillRect/>
            </a:stretch>
          </p:blipFill>
          <p:spPr>
            <a:xfrm>
              <a:off x="5765533" y="3231694"/>
              <a:ext cx="4812968" cy="2590660"/>
            </a:xfrm>
            <a:prstGeom prst="rect">
              <a:avLst/>
            </a:prstGeom>
          </p:spPr>
        </p:pic>
        <p:pic>
          <p:nvPicPr>
            <p:cNvPr id="16" name="图片 15">
              <a:extLst>
                <a:ext uri="{FF2B5EF4-FFF2-40B4-BE49-F238E27FC236}">
                  <a16:creationId xmlns:a16="http://schemas.microsoft.com/office/drawing/2014/main" id="{DDFD502B-7CBF-D572-6912-8D4E3F10B1C4}"/>
                </a:ext>
              </a:extLst>
            </p:cNvPr>
            <p:cNvPicPr>
              <a:picLocks noChangeAspect="1"/>
            </p:cNvPicPr>
            <p:nvPr/>
          </p:nvPicPr>
          <p:blipFill>
            <a:blip r:embed="rId4"/>
            <a:stretch>
              <a:fillRect/>
            </a:stretch>
          </p:blipFill>
          <p:spPr>
            <a:xfrm>
              <a:off x="7206871" y="3593043"/>
              <a:ext cx="4985129" cy="2979019"/>
            </a:xfrm>
            <a:prstGeom prst="rect">
              <a:avLst/>
            </a:prstGeom>
          </p:spPr>
        </p:pic>
      </p:grpSp>
    </p:spTree>
    <p:extLst>
      <p:ext uri="{BB962C8B-B14F-4D97-AF65-F5344CB8AC3E}">
        <p14:creationId xmlns:p14="http://schemas.microsoft.com/office/powerpoint/2010/main" val="1441833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3684B-8964-67DE-FF4C-1398E952A66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361CC89-53A0-7725-FB43-922F38105D26}"/>
              </a:ext>
            </a:extLst>
          </p:cNvPr>
          <p:cNvSpPr txBox="1"/>
          <p:nvPr/>
        </p:nvSpPr>
        <p:spPr>
          <a:xfrm>
            <a:off x="969111" y="1683227"/>
            <a:ext cx="10064732" cy="2251835"/>
          </a:xfrm>
          <a:prstGeom prst="rect">
            <a:avLst/>
          </a:prstGeom>
          <a:noFill/>
        </p:spPr>
        <p:txBody>
          <a:bodyPr wrap="square" rtlCol="0">
            <a:spAutoFit/>
          </a:bodyPr>
          <a:lstStyle/>
          <a:p>
            <a:pPr>
              <a:lnSpc>
                <a:spcPct val="150000"/>
              </a:lnSpc>
            </a:pPr>
            <a:r>
              <a:rPr lang="en-US" altLang="zh-CN" sz="2400" dirty="0"/>
              <a:t>	</a:t>
            </a:r>
            <a:r>
              <a:rPr lang="zh-CN" altLang="en-US" sz="2400" dirty="0"/>
              <a:t>一言以蔽之，对于开源</a:t>
            </a:r>
            <a:r>
              <a:rPr lang="en-US" altLang="zh-CN" sz="2400" dirty="0"/>
              <a:t>AI</a:t>
            </a:r>
            <a:r>
              <a:rPr lang="zh-CN" altLang="en-US" sz="2400" dirty="0"/>
              <a:t>大模型领域还缺乏其统一的影响力排名量化指标与可视化洞察的平台。</a:t>
            </a:r>
            <a:endParaRPr lang="en-US" altLang="zh-CN" sz="2400" dirty="0"/>
          </a:p>
          <a:p>
            <a:pPr>
              <a:lnSpc>
                <a:spcPct val="150000"/>
              </a:lnSpc>
            </a:pPr>
            <a:r>
              <a:rPr lang="en-US" altLang="zh-CN" sz="2400" dirty="0"/>
              <a:t>	</a:t>
            </a:r>
            <a:r>
              <a:rPr lang="zh-CN" altLang="en-US" sz="2400" dirty="0"/>
              <a:t>于是，我们致力于构建一个面向</a:t>
            </a:r>
            <a:r>
              <a:rPr lang="en-US" altLang="zh-CN" sz="2400" dirty="0"/>
              <a:t>Hugging Face</a:t>
            </a:r>
            <a:r>
              <a:rPr lang="zh-CN" altLang="en-US" sz="2400" dirty="0"/>
              <a:t>和</a:t>
            </a:r>
            <a:r>
              <a:rPr lang="en-US" altLang="zh-CN" sz="2400" dirty="0"/>
              <a:t>GitHub</a:t>
            </a:r>
            <a:r>
              <a:rPr lang="zh-CN" altLang="en-US" sz="2400" dirty="0"/>
              <a:t>双平台的开源</a:t>
            </a:r>
            <a:r>
              <a:rPr lang="en-US" altLang="zh-CN" sz="2400" dirty="0"/>
              <a:t>AI </a:t>
            </a:r>
            <a:r>
              <a:rPr lang="zh-CN" altLang="en-US" sz="2400" dirty="0"/>
              <a:t>大模型生态分析与可视化应用。</a:t>
            </a:r>
            <a:endParaRPr lang="en-US" altLang="zh-CN" sz="2400" dirty="0"/>
          </a:p>
        </p:txBody>
      </p:sp>
      <p:grpSp>
        <p:nvGrpSpPr>
          <p:cNvPr id="19" name="组合 18">
            <a:extLst>
              <a:ext uri="{FF2B5EF4-FFF2-40B4-BE49-F238E27FC236}">
                <a16:creationId xmlns:a16="http://schemas.microsoft.com/office/drawing/2014/main" id="{4BA49281-02EC-CC11-EA1A-798D323CAE96}"/>
              </a:ext>
            </a:extLst>
          </p:cNvPr>
          <p:cNvGrpSpPr/>
          <p:nvPr/>
        </p:nvGrpSpPr>
        <p:grpSpPr>
          <a:xfrm>
            <a:off x="2915288" y="4157295"/>
            <a:ext cx="5706905" cy="2315695"/>
            <a:chOff x="3011541" y="4542305"/>
            <a:chExt cx="5706905" cy="2315695"/>
          </a:xfrm>
        </p:grpSpPr>
        <p:pic>
          <p:nvPicPr>
            <p:cNvPr id="8" name="图形 7">
              <a:extLst>
                <a:ext uri="{FF2B5EF4-FFF2-40B4-BE49-F238E27FC236}">
                  <a16:creationId xmlns:a16="http://schemas.microsoft.com/office/drawing/2014/main" id="{0EBE7F56-1884-5056-4E55-02E40F9CA5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11541" y="5416157"/>
              <a:ext cx="1556536" cy="1441843"/>
            </a:xfrm>
            <a:prstGeom prst="rect">
              <a:avLst/>
            </a:prstGeom>
          </p:spPr>
        </p:pic>
        <p:pic>
          <p:nvPicPr>
            <p:cNvPr id="10" name="图形 9">
              <a:extLst>
                <a:ext uri="{FF2B5EF4-FFF2-40B4-BE49-F238E27FC236}">
                  <a16:creationId xmlns:a16="http://schemas.microsoft.com/office/drawing/2014/main" id="{0EF6580B-261A-446E-2F36-3906F052B73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66469" y="5416157"/>
              <a:ext cx="1351977" cy="1324386"/>
            </a:xfrm>
            <a:prstGeom prst="rect">
              <a:avLst/>
            </a:prstGeom>
          </p:spPr>
        </p:pic>
        <p:pic>
          <p:nvPicPr>
            <p:cNvPr id="18" name="图形 17">
              <a:extLst>
                <a:ext uri="{FF2B5EF4-FFF2-40B4-BE49-F238E27FC236}">
                  <a16:creationId xmlns:a16="http://schemas.microsoft.com/office/drawing/2014/main" id="{394A07B0-75FB-8A2D-9042-87D03D9F06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50231" y="4542305"/>
              <a:ext cx="1324386" cy="1324386"/>
            </a:xfrm>
            <a:prstGeom prst="rect">
              <a:avLst/>
            </a:prstGeom>
          </p:spPr>
        </p:pic>
      </p:grpSp>
      <p:sp>
        <p:nvSpPr>
          <p:cNvPr id="2" name="文本框 1">
            <a:extLst>
              <a:ext uri="{FF2B5EF4-FFF2-40B4-BE49-F238E27FC236}">
                <a16:creationId xmlns:a16="http://schemas.microsoft.com/office/drawing/2014/main" id="{0F3E8504-7090-EDF4-CBDD-5B619DC4ACBF}"/>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一、需求洞察</a:t>
            </a:r>
          </a:p>
        </p:txBody>
      </p:sp>
    </p:spTree>
    <p:extLst>
      <p:ext uri="{BB962C8B-B14F-4D97-AF65-F5344CB8AC3E}">
        <p14:creationId xmlns:p14="http://schemas.microsoft.com/office/powerpoint/2010/main" val="545673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D531-0916-D24D-2F64-2A010330CD2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E7E5D29-D38D-2B23-575C-EB81238326F9}"/>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B83165FD-3B0E-FE8B-86AE-7A658F770B33}"/>
              </a:ext>
            </a:extLst>
          </p:cNvPr>
          <p:cNvSpPr txBox="1"/>
          <p:nvPr/>
        </p:nvSpPr>
        <p:spPr>
          <a:xfrm>
            <a:off x="647747" y="1415909"/>
            <a:ext cx="3595779" cy="400110"/>
          </a:xfrm>
          <a:prstGeom prst="rect">
            <a:avLst/>
          </a:prstGeom>
          <a:noFill/>
        </p:spPr>
        <p:txBody>
          <a:bodyPr wrap="square" rtlCol="0">
            <a:spAutoFit/>
          </a:bodyPr>
          <a:lstStyle/>
          <a:p>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项目结构</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68B6E9DC-0ACD-B6E9-3A3B-EFC02A94DA1F}"/>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D2028477-E7B3-65D8-369C-C68FF58F9BEF}"/>
              </a:ext>
            </a:extLst>
          </p:cNvPr>
          <p:cNvSpPr txBox="1"/>
          <p:nvPr/>
        </p:nvSpPr>
        <p:spPr>
          <a:xfrm>
            <a:off x="789063" y="2045756"/>
            <a:ext cx="10454904" cy="3738588"/>
          </a:xfrm>
          <a:prstGeom prst="rect">
            <a:avLst/>
          </a:prstGeom>
          <a:noFill/>
        </p:spPr>
        <p:txBody>
          <a:bodyPr wrap="square">
            <a:spAutoFit/>
          </a:bodyPr>
          <a:lstStyle/>
          <a:p>
            <a:pPr>
              <a:lnSpc>
                <a:spcPct val="150000"/>
              </a:lnSpc>
            </a:pPr>
            <a:r>
              <a:rPr lang="zh-CN" altLang="en-US" sz="2000" dirty="0"/>
              <a:t>从用户视角来看，项目主要分为两部分：</a:t>
            </a:r>
            <a:endParaRPr lang="en-US" altLang="zh-CN" sz="2000" dirty="0"/>
          </a:p>
          <a:p>
            <a:pPr marL="457200" indent="-457200">
              <a:lnSpc>
                <a:spcPct val="150000"/>
              </a:lnSpc>
              <a:buAutoNum type="arabicPeriod"/>
            </a:pPr>
            <a:r>
              <a:rPr lang="en-US" altLang="zh-CN" sz="2000" b="1" dirty="0"/>
              <a:t>GitHub </a:t>
            </a:r>
            <a:r>
              <a:rPr lang="zh-CN" altLang="en-US" sz="2000" b="1" dirty="0"/>
              <a:t>平台部分</a:t>
            </a:r>
            <a:endParaRPr lang="en-US" altLang="zh-CN" sz="2000" b="1" dirty="0"/>
          </a:p>
          <a:p>
            <a:pPr marL="800100" lvl="1" indent="-342900">
              <a:lnSpc>
                <a:spcPct val="150000"/>
              </a:lnSpc>
              <a:buFont typeface="Arial" panose="020B0604020202020204" pitchFamily="34" charset="0"/>
              <a:buChar char="•"/>
            </a:pPr>
            <a:r>
              <a:rPr lang="en-US" altLang="zh-CN" sz="2000" dirty="0"/>
              <a:t> GitHub</a:t>
            </a:r>
            <a:r>
              <a:rPr lang="zh-CN" altLang="en-US" sz="2000" dirty="0"/>
              <a:t>平台大模型相关</a:t>
            </a:r>
            <a:r>
              <a:rPr lang="en-US" altLang="zh-CN" sz="2000" dirty="0"/>
              <a:t>repo</a:t>
            </a:r>
            <a:r>
              <a:rPr lang="zh-CN" altLang="en-US" sz="2000" dirty="0"/>
              <a:t>的</a:t>
            </a:r>
            <a:r>
              <a:rPr lang="zh-CN" altLang="en-US" sz="2000" b="1" dirty="0"/>
              <a:t>数据大屏</a:t>
            </a:r>
            <a:endParaRPr lang="en-US" altLang="zh-CN" sz="2000" b="1" dirty="0"/>
          </a:p>
          <a:p>
            <a:pPr marL="457200" indent="-457200">
              <a:lnSpc>
                <a:spcPct val="150000"/>
              </a:lnSpc>
              <a:buAutoNum type="arabicPeriod"/>
            </a:pPr>
            <a:r>
              <a:rPr lang="en-US" altLang="zh-CN" sz="2000" b="1" dirty="0"/>
              <a:t>Hugging Face </a:t>
            </a:r>
            <a:r>
              <a:rPr lang="zh-CN" altLang="en-US" sz="2000" b="1" dirty="0"/>
              <a:t>平台部分</a:t>
            </a:r>
            <a:endParaRPr lang="en-US" altLang="zh-CN" sz="2000" b="1" dirty="0"/>
          </a:p>
          <a:p>
            <a:pPr marL="914400" lvl="1" indent="-457200">
              <a:lnSpc>
                <a:spcPct val="150000"/>
              </a:lnSpc>
              <a:buFont typeface="Arial" panose="020B0604020202020204" pitchFamily="34" charset="0"/>
              <a:buChar char="•"/>
            </a:pPr>
            <a:r>
              <a:rPr lang="en-US" altLang="zh-CN" sz="2000" dirty="0"/>
              <a:t>Hugging Face</a:t>
            </a:r>
            <a:r>
              <a:rPr lang="zh-CN" altLang="en-US" sz="2000" dirty="0"/>
              <a:t>大模型</a:t>
            </a:r>
            <a:r>
              <a:rPr lang="zh-CN" altLang="en-US" sz="2000" b="1" dirty="0"/>
              <a:t>影响力排行榜（</a:t>
            </a:r>
            <a:r>
              <a:rPr lang="en-US" altLang="zh-CN" sz="2000" b="1" dirty="0"/>
              <a:t>LLM Leaderboard</a:t>
            </a:r>
            <a:r>
              <a:rPr lang="zh-CN" altLang="en-US" sz="2000" b="1" dirty="0"/>
              <a:t>）</a:t>
            </a:r>
          </a:p>
          <a:p>
            <a:pPr marL="914400" lvl="1" indent="-457200">
              <a:lnSpc>
                <a:spcPct val="150000"/>
              </a:lnSpc>
              <a:buFont typeface="Arial" panose="020B0604020202020204" pitchFamily="34" charset="0"/>
              <a:buChar char="•"/>
            </a:pPr>
            <a:r>
              <a:rPr lang="en-US" altLang="zh-CN" sz="2000" dirty="0"/>
              <a:t>Hugging Face</a:t>
            </a:r>
            <a:r>
              <a:rPr lang="zh-CN" altLang="en-US" sz="2000" dirty="0"/>
              <a:t>大模型</a:t>
            </a:r>
            <a:r>
              <a:rPr lang="zh-CN" altLang="en-US" sz="2000" b="1" dirty="0"/>
              <a:t>生态网络图</a:t>
            </a:r>
          </a:p>
          <a:p>
            <a:pPr marL="914400" lvl="1" indent="-457200">
              <a:lnSpc>
                <a:spcPct val="150000"/>
              </a:lnSpc>
              <a:buFont typeface="Arial" panose="020B0604020202020204" pitchFamily="34" charset="0"/>
              <a:buChar char="•"/>
            </a:pPr>
            <a:r>
              <a:rPr lang="en-US" altLang="zh-CN" sz="2000" dirty="0"/>
              <a:t>Hugging Face</a:t>
            </a:r>
            <a:r>
              <a:rPr lang="zh-CN" altLang="en-US" sz="2000" dirty="0"/>
              <a:t>大模型</a:t>
            </a:r>
            <a:r>
              <a:rPr lang="zh-CN" altLang="en-US" sz="2000" b="1" dirty="0"/>
              <a:t>全局生态数据大屏</a:t>
            </a:r>
            <a:endParaRPr lang="en-US" altLang="zh-CN" sz="2000" b="1" dirty="0"/>
          </a:p>
          <a:p>
            <a:pPr>
              <a:lnSpc>
                <a:spcPct val="150000"/>
              </a:lnSpc>
            </a:pPr>
            <a:endParaRPr lang="en-US" altLang="zh-CN" sz="2000" dirty="0"/>
          </a:p>
        </p:txBody>
      </p:sp>
    </p:spTree>
    <p:extLst>
      <p:ext uri="{BB962C8B-B14F-4D97-AF65-F5344CB8AC3E}">
        <p14:creationId xmlns:p14="http://schemas.microsoft.com/office/powerpoint/2010/main" val="619735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2222D-2E18-D786-ECCC-9CBEBE4EC4A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F8CA7C8-FD14-3345-2645-BFAF4A26E26B}"/>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89648246-72AA-7CB3-D2DF-1D04AB8AAD2A}"/>
              </a:ext>
            </a:extLst>
          </p:cNvPr>
          <p:cNvSpPr txBox="1"/>
          <p:nvPr/>
        </p:nvSpPr>
        <p:spPr>
          <a:xfrm>
            <a:off x="647747" y="1415909"/>
            <a:ext cx="8806804" cy="400110"/>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0. Home Page </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F789A726-5C52-E156-BB44-0F0A20CDBA3C}"/>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a:extLst>
              <a:ext uri="{FF2B5EF4-FFF2-40B4-BE49-F238E27FC236}">
                <a16:creationId xmlns:a16="http://schemas.microsoft.com/office/drawing/2014/main" id="{761783A8-D8E8-347B-21E2-914948257B9A}"/>
              </a:ext>
            </a:extLst>
          </p:cNvPr>
          <p:cNvPicPr>
            <a:picLocks noChangeAspect="1"/>
          </p:cNvPicPr>
          <p:nvPr/>
        </p:nvPicPr>
        <p:blipFill>
          <a:blip r:embed="rId2"/>
          <a:stretch>
            <a:fillRect/>
          </a:stretch>
        </p:blipFill>
        <p:spPr>
          <a:xfrm>
            <a:off x="2450235" y="1843064"/>
            <a:ext cx="7980423" cy="5009932"/>
          </a:xfrm>
          <a:prstGeom prst="rect">
            <a:avLst/>
          </a:prstGeom>
        </p:spPr>
      </p:pic>
    </p:spTree>
    <p:extLst>
      <p:ext uri="{BB962C8B-B14F-4D97-AF65-F5344CB8AC3E}">
        <p14:creationId xmlns:p14="http://schemas.microsoft.com/office/powerpoint/2010/main" val="4007113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23F5A-BB91-80A9-9B03-1BC556D9C0E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AA4FA0A-A21A-C94E-4777-F2E64FB216A5}"/>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4BF8A952-47EF-D8B2-E0FB-BE51443F2757}"/>
              </a:ext>
            </a:extLst>
          </p:cNvPr>
          <p:cNvSpPr txBox="1"/>
          <p:nvPr/>
        </p:nvSpPr>
        <p:spPr>
          <a:xfrm>
            <a:off x="647747" y="1415909"/>
            <a:ext cx="8806804" cy="400110"/>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1. GitHub – </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单</a:t>
            </a:r>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repo</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数据大屏</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16B66D35-0DF2-0C43-9583-EF818CAAC3D5}"/>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descr="图形用户界面&#10;&#10;描述已自动生成">
            <a:extLst>
              <a:ext uri="{FF2B5EF4-FFF2-40B4-BE49-F238E27FC236}">
                <a16:creationId xmlns:a16="http://schemas.microsoft.com/office/drawing/2014/main" id="{C1133395-710F-B569-FA0F-59D09B5911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32276" y="2155943"/>
            <a:ext cx="7756207" cy="4591650"/>
          </a:xfrm>
          <a:prstGeom prst="rect">
            <a:avLst/>
          </a:prstGeom>
        </p:spPr>
      </p:pic>
      <p:sp>
        <p:nvSpPr>
          <p:cNvPr id="7" name="文本框 6">
            <a:extLst>
              <a:ext uri="{FF2B5EF4-FFF2-40B4-BE49-F238E27FC236}">
                <a16:creationId xmlns:a16="http://schemas.microsoft.com/office/drawing/2014/main" id="{0DEDFD53-1C00-BF2B-55E3-AF1B320E36F6}"/>
              </a:ext>
            </a:extLst>
          </p:cNvPr>
          <p:cNvSpPr txBox="1"/>
          <p:nvPr/>
        </p:nvSpPr>
        <p:spPr>
          <a:xfrm>
            <a:off x="652860" y="2190513"/>
            <a:ext cx="4398289" cy="143026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b="1" dirty="0"/>
              <a:t>项目基本信息查看</a:t>
            </a:r>
            <a:endParaRPr lang="en-US" altLang="zh-CN" sz="2000" b="1" dirty="0"/>
          </a:p>
          <a:p>
            <a:pPr marL="342900" indent="-342900">
              <a:lnSpc>
                <a:spcPct val="150000"/>
              </a:lnSpc>
              <a:buFont typeface="Arial" panose="020B0604020202020204" pitchFamily="34" charset="0"/>
              <a:buChar char="•"/>
            </a:pPr>
            <a:r>
              <a:rPr lang="zh-CN" altLang="en-US" sz="2000" b="1" dirty="0"/>
              <a:t>项目评分分析</a:t>
            </a:r>
            <a:endParaRPr lang="en-US" altLang="zh-CN" sz="2000" b="1" dirty="0"/>
          </a:p>
          <a:p>
            <a:pPr marL="342900" indent="-342900">
              <a:lnSpc>
                <a:spcPct val="150000"/>
              </a:lnSpc>
              <a:buFont typeface="Arial" panose="020B0604020202020204" pitchFamily="34" charset="0"/>
              <a:buChar char="•"/>
            </a:pPr>
            <a:r>
              <a:rPr lang="zh-CN" altLang="en-US" sz="2000" b="1" dirty="0"/>
              <a:t>项目指标时序图表</a:t>
            </a:r>
            <a:endParaRPr lang="en-US" altLang="zh-CN" sz="2000" b="1" dirty="0"/>
          </a:p>
        </p:txBody>
      </p:sp>
    </p:spTree>
    <p:extLst>
      <p:ext uri="{BB962C8B-B14F-4D97-AF65-F5344CB8AC3E}">
        <p14:creationId xmlns:p14="http://schemas.microsoft.com/office/powerpoint/2010/main" val="159780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9E36-C19B-F300-2E64-DDF29A412DA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F035AC82-8132-6211-D0F2-DE7358799C9D}"/>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4FC9B5E5-041B-D975-CDD3-EBD12062139E}"/>
              </a:ext>
            </a:extLst>
          </p:cNvPr>
          <p:cNvSpPr txBox="1"/>
          <p:nvPr/>
        </p:nvSpPr>
        <p:spPr>
          <a:xfrm>
            <a:off x="647747" y="1415909"/>
            <a:ext cx="8806804" cy="707886"/>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2. Hugging Face - </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大模型影响力排行榜（</a:t>
            </a:r>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LLM Leaderboard</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a:t>
            </a:r>
          </a:p>
          <a:p>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6186E33-35AC-C9F5-A633-1BD8B9B53C95}"/>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0E6D6607-DB27-42E2-6571-25BD915B427D}"/>
              </a:ext>
            </a:extLst>
          </p:cNvPr>
          <p:cNvSpPr txBox="1"/>
          <p:nvPr/>
        </p:nvSpPr>
        <p:spPr>
          <a:xfrm>
            <a:off x="579153" y="2039181"/>
            <a:ext cx="4398289" cy="3276282"/>
          </a:xfrm>
          <a:prstGeom prst="rect">
            <a:avLst/>
          </a:prstGeom>
          <a:noFill/>
        </p:spPr>
        <p:txBody>
          <a:bodyPr wrap="square">
            <a:spAutoFit/>
          </a:bodyPr>
          <a:lstStyle/>
          <a:p>
            <a:pPr>
              <a:lnSpc>
                <a:spcPct val="150000"/>
              </a:lnSpc>
            </a:pPr>
            <a:r>
              <a:rPr lang="zh-CN" altLang="en-US" sz="2000" b="1" dirty="0"/>
              <a:t>什么是</a:t>
            </a:r>
            <a:r>
              <a:rPr lang="en-US" altLang="zh-CN" sz="2000" b="1" dirty="0"/>
              <a:t>LLM Leaderboard</a:t>
            </a:r>
            <a:r>
              <a:rPr lang="zh-CN" altLang="en-US" sz="2000" b="1" dirty="0"/>
              <a:t>？</a:t>
            </a:r>
            <a:endParaRPr lang="en-US" altLang="zh-CN" sz="2000" b="1" dirty="0"/>
          </a:p>
          <a:p>
            <a:pPr marL="342900" indent="-342900">
              <a:lnSpc>
                <a:spcPct val="150000"/>
              </a:lnSpc>
              <a:buFont typeface="Arial" panose="020B0604020202020204" pitchFamily="34" charset="0"/>
              <a:buChar char="•"/>
            </a:pPr>
            <a:r>
              <a:rPr lang="zh-CN" altLang="en-US" sz="2000" dirty="0"/>
              <a:t>根据影响力算法对各模型进行</a:t>
            </a:r>
            <a:r>
              <a:rPr lang="zh-CN" altLang="en-US" sz="2000" b="1" dirty="0"/>
              <a:t>排名</a:t>
            </a:r>
            <a:endParaRPr lang="en-US" altLang="zh-CN" sz="2000" b="1" dirty="0"/>
          </a:p>
          <a:p>
            <a:pPr marL="342900" indent="-342900">
              <a:lnSpc>
                <a:spcPct val="150000"/>
              </a:lnSpc>
              <a:buFont typeface="Arial" panose="020B0604020202020204" pitchFamily="34" charset="0"/>
              <a:buChar char="•"/>
            </a:pPr>
            <a:r>
              <a:rPr lang="zh-CN" altLang="en-US" sz="2000" dirty="0"/>
              <a:t>高效的</a:t>
            </a:r>
            <a:r>
              <a:rPr lang="zh-CN" altLang="en-US" sz="2000" b="1" dirty="0"/>
              <a:t>模型信息浏览工具</a:t>
            </a:r>
            <a:endParaRPr lang="en-US" altLang="zh-CN" sz="2000" b="1" dirty="0"/>
          </a:p>
          <a:p>
            <a:pPr marL="342900" indent="-342900">
              <a:lnSpc>
                <a:spcPct val="150000"/>
              </a:lnSpc>
              <a:buFont typeface="Arial" panose="020B0604020202020204" pitchFamily="34" charset="0"/>
              <a:buChar char="•"/>
            </a:pPr>
            <a:r>
              <a:rPr lang="zh-CN" altLang="en-US" sz="2000" dirty="0"/>
              <a:t>快速访问</a:t>
            </a:r>
            <a:r>
              <a:rPr lang="zh-CN" altLang="en-US" sz="2000" b="1" dirty="0"/>
              <a:t>每个模型对应的生态网络图</a:t>
            </a:r>
            <a:r>
              <a:rPr lang="zh-CN" altLang="en-US" sz="2000" dirty="0"/>
              <a:t>及</a:t>
            </a:r>
            <a:r>
              <a:rPr lang="zh-CN" altLang="en-US" sz="2000" b="1" dirty="0"/>
              <a:t>多模型生态网络图</a:t>
            </a:r>
            <a:endParaRPr lang="en-US" altLang="zh-CN" sz="2000" b="1" dirty="0"/>
          </a:p>
          <a:p>
            <a:pPr>
              <a:lnSpc>
                <a:spcPct val="150000"/>
              </a:lnSpc>
            </a:pPr>
            <a:r>
              <a:rPr lang="zh-CN" altLang="en-US" sz="2000" b="1" dirty="0"/>
              <a:t>展示：</a:t>
            </a:r>
            <a:endParaRPr lang="en-US" altLang="zh-CN" sz="2000" b="1" dirty="0"/>
          </a:p>
          <a:p>
            <a:pPr marL="342900" indent="-342900">
              <a:lnSpc>
                <a:spcPct val="150000"/>
              </a:lnSpc>
              <a:buFont typeface="Arial" panose="020B0604020202020204" pitchFamily="34" charset="0"/>
              <a:buChar char="•"/>
            </a:pPr>
            <a:r>
              <a:rPr lang="en-US" altLang="zh-CN" sz="2000" dirty="0"/>
              <a:t>LLM Leaderboard</a:t>
            </a:r>
            <a:r>
              <a:rPr lang="zh-CN" altLang="en-US" sz="2000" dirty="0"/>
              <a:t>的基本操作</a:t>
            </a:r>
            <a:endParaRPr lang="en-US" altLang="zh-CN" sz="2000" dirty="0"/>
          </a:p>
        </p:txBody>
      </p:sp>
      <p:pic>
        <p:nvPicPr>
          <p:cNvPr id="7" name="图片 6" descr="图片包含 图形用户界面&#10;&#10;描述已自动生成">
            <a:extLst>
              <a:ext uri="{FF2B5EF4-FFF2-40B4-BE49-F238E27FC236}">
                <a16:creationId xmlns:a16="http://schemas.microsoft.com/office/drawing/2014/main" id="{AF7CB702-9571-E018-7BFD-E8CD36A173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77442" y="2274193"/>
            <a:ext cx="7135259" cy="3920825"/>
          </a:xfrm>
          <a:prstGeom prst="rect">
            <a:avLst/>
          </a:prstGeom>
        </p:spPr>
      </p:pic>
    </p:spTree>
    <p:extLst>
      <p:ext uri="{BB962C8B-B14F-4D97-AF65-F5344CB8AC3E}">
        <p14:creationId xmlns:p14="http://schemas.microsoft.com/office/powerpoint/2010/main" val="78473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EAE08-90CB-A89A-6272-6FE3289CC4CF}"/>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284DC839-8735-90B7-94DE-6F35398E2566}"/>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2176F030-C40E-E112-2173-CE9FDA77E325}"/>
              </a:ext>
            </a:extLst>
          </p:cNvPr>
          <p:cNvSpPr txBox="1"/>
          <p:nvPr/>
        </p:nvSpPr>
        <p:spPr>
          <a:xfrm>
            <a:off x="647747" y="1415909"/>
            <a:ext cx="8806804" cy="707886"/>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2. Hugging Face - </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大模型生态网络</a:t>
            </a:r>
          </a:p>
          <a:p>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882A8C00-0F1F-C2AA-9DC0-96822C827191}"/>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1131E35-02EB-1A2E-52A1-2E5AE8914EB1}"/>
              </a:ext>
            </a:extLst>
          </p:cNvPr>
          <p:cNvSpPr txBox="1"/>
          <p:nvPr/>
        </p:nvSpPr>
        <p:spPr>
          <a:xfrm>
            <a:off x="579153" y="2039181"/>
            <a:ext cx="11368432" cy="4661917"/>
          </a:xfrm>
          <a:prstGeom prst="rect">
            <a:avLst/>
          </a:prstGeom>
          <a:noFill/>
        </p:spPr>
        <p:txBody>
          <a:bodyPr wrap="square">
            <a:spAutoFit/>
          </a:bodyPr>
          <a:lstStyle/>
          <a:p>
            <a:pPr>
              <a:lnSpc>
                <a:spcPct val="150000"/>
              </a:lnSpc>
            </a:pPr>
            <a:r>
              <a:rPr lang="zh-CN" altLang="en-US" sz="2000" b="1" dirty="0"/>
              <a:t>什么是大模型生态网络？</a:t>
            </a:r>
            <a:endParaRPr lang="en-US" altLang="zh-CN" sz="2000" b="1" dirty="0"/>
          </a:p>
          <a:p>
            <a:pPr marL="342900" indent="-342900">
              <a:lnSpc>
                <a:spcPct val="150000"/>
              </a:lnSpc>
              <a:buFont typeface="Arial" panose="020B0604020202020204" pitchFamily="34" charset="0"/>
              <a:buChar char="•"/>
            </a:pPr>
            <a:r>
              <a:rPr lang="en-US" altLang="zh-CN" sz="2000" b="1" dirty="0"/>
              <a:t>“Model Tree”</a:t>
            </a:r>
          </a:p>
          <a:p>
            <a:pPr>
              <a:lnSpc>
                <a:spcPct val="150000"/>
              </a:lnSpc>
            </a:pPr>
            <a:r>
              <a:rPr lang="en-US" altLang="zh-CN" sz="2000" b="1" dirty="0"/>
              <a:t>	</a:t>
            </a:r>
            <a:r>
              <a:rPr lang="zh-CN" altLang="en-US" sz="2000" dirty="0"/>
              <a:t>一个模型可能是其他模型的</a:t>
            </a:r>
            <a:r>
              <a:rPr lang="en-US" altLang="zh-CN" sz="2000" dirty="0"/>
              <a:t>`</a:t>
            </a:r>
            <a:r>
              <a:rPr lang="zh-CN" altLang="en-US" sz="2000" dirty="0"/>
              <a:t>衍生模型</a:t>
            </a:r>
            <a:r>
              <a:rPr lang="en-US" altLang="zh-CN" sz="2000" dirty="0"/>
              <a:t>`</a:t>
            </a:r>
            <a:r>
              <a:rPr lang="zh-CN" altLang="en-US" sz="2000" dirty="0"/>
              <a:t>（包括</a:t>
            </a:r>
            <a:r>
              <a:rPr lang="en-US" altLang="zh-CN" sz="2000" dirty="0"/>
              <a:t>`</a:t>
            </a:r>
            <a:r>
              <a:rPr lang="zh-CN" altLang="en-US" sz="2000" dirty="0"/>
              <a:t>适配</a:t>
            </a:r>
            <a:r>
              <a:rPr lang="en-US" altLang="zh-CN" sz="2000" dirty="0"/>
              <a:t>(Adapters)`</a:t>
            </a:r>
            <a:r>
              <a:rPr lang="zh-CN" altLang="en-US" sz="2000" dirty="0"/>
              <a:t>，</a:t>
            </a:r>
            <a:r>
              <a:rPr lang="en-US" altLang="zh-CN" sz="2000" dirty="0"/>
              <a:t>`</a:t>
            </a:r>
            <a:r>
              <a:rPr lang="zh-CN" altLang="en-US" sz="2000" dirty="0"/>
              <a:t>微调</a:t>
            </a:r>
            <a:r>
              <a:rPr lang="en-US" altLang="zh-CN" sz="2000" dirty="0"/>
              <a:t>(Finetunes)`</a:t>
            </a:r>
            <a:r>
              <a:rPr lang="zh-CN" altLang="en-US" sz="2000" dirty="0"/>
              <a:t>，</a:t>
            </a:r>
            <a:r>
              <a:rPr lang="en-US" altLang="zh-CN" sz="2000" dirty="0"/>
              <a:t>`</a:t>
            </a:r>
            <a:r>
              <a:rPr lang="zh-CN" altLang="en-US" sz="2000" dirty="0"/>
              <a:t>融合</a:t>
            </a:r>
            <a:r>
              <a:rPr lang="en-US" altLang="zh-CN" sz="2000" dirty="0"/>
              <a:t>(Merges)`</a:t>
            </a:r>
            <a:r>
              <a:rPr lang="zh-CN" altLang="en-US" sz="2000" dirty="0"/>
              <a:t>和</a:t>
            </a:r>
            <a:r>
              <a:rPr lang="en-US" altLang="zh-CN" sz="2000" dirty="0"/>
              <a:t>`</a:t>
            </a:r>
            <a:r>
              <a:rPr lang="zh-CN" altLang="en-US" sz="2000" dirty="0"/>
              <a:t>量化</a:t>
            </a:r>
            <a:r>
              <a:rPr lang="en-US" altLang="zh-CN" sz="2000" dirty="0"/>
              <a:t>(</a:t>
            </a:r>
            <a:r>
              <a:rPr lang="en-US" altLang="zh-CN" sz="2000" dirty="0" err="1"/>
              <a:t>Quantizations</a:t>
            </a:r>
            <a:r>
              <a:rPr lang="en-US" altLang="zh-CN" sz="2000" dirty="0"/>
              <a:t>)`</a:t>
            </a:r>
            <a:r>
              <a:rPr lang="zh-CN" altLang="en-US" sz="2000" dirty="0"/>
              <a:t>），也可能是其他模型的</a:t>
            </a:r>
            <a:r>
              <a:rPr lang="en-US" altLang="zh-CN" sz="2000" dirty="0"/>
              <a:t>`</a:t>
            </a:r>
            <a:r>
              <a:rPr lang="zh-CN" altLang="en-US" sz="2000" dirty="0"/>
              <a:t>基模型</a:t>
            </a:r>
            <a:r>
              <a:rPr lang="en-US" altLang="zh-CN" sz="2000" dirty="0"/>
              <a:t>(base model)`</a:t>
            </a:r>
            <a:r>
              <a:rPr lang="zh-CN" altLang="en-US" sz="2000" dirty="0"/>
              <a:t>。在上图中，</a:t>
            </a:r>
            <a:r>
              <a:rPr lang="en-US" altLang="zh-CN" sz="2000" dirty="0"/>
              <a:t>`Llama-3.3-70B-Instruct`</a:t>
            </a:r>
            <a:r>
              <a:rPr lang="zh-CN" altLang="en-US" sz="2000" dirty="0"/>
              <a:t>就是</a:t>
            </a:r>
            <a:r>
              <a:rPr lang="en-US" altLang="zh-CN" sz="2000" dirty="0"/>
              <a:t>`Llama-3.1-70B`</a:t>
            </a:r>
            <a:r>
              <a:rPr lang="zh-CN" altLang="en-US" sz="2000" dirty="0"/>
              <a:t>的</a:t>
            </a:r>
            <a:r>
              <a:rPr lang="en-US" altLang="zh-CN" sz="2000" dirty="0"/>
              <a:t>`finetune`</a:t>
            </a:r>
            <a:r>
              <a:rPr lang="zh-CN" altLang="en-US" sz="2000" dirty="0"/>
              <a:t>版本，也就是说</a:t>
            </a:r>
            <a:r>
              <a:rPr lang="en-US" altLang="zh-CN" sz="2000" dirty="0"/>
              <a:t>`Llama-3.1-70B`</a:t>
            </a:r>
            <a:r>
              <a:rPr lang="zh-CN" altLang="en-US" sz="2000" dirty="0"/>
              <a:t>是</a:t>
            </a:r>
            <a:r>
              <a:rPr lang="en-US" altLang="zh-CN" sz="2000" dirty="0"/>
              <a:t>`Llama-3.3-70B-Instruct`</a:t>
            </a:r>
            <a:r>
              <a:rPr lang="zh-CN" altLang="en-US" sz="2000" dirty="0"/>
              <a:t>的</a:t>
            </a:r>
            <a:r>
              <a:rPr lang="en-US" altLang="zh-CN" sz="2000" dirty="0"/>
              <a:t>`base model`</a:t>
            </a:r>
            <a:r>
              <a:rPr lang="zh-CN" altLang="en-US" sz="2000" dirty="0"/>
              <a:t>；而</a:t>
            </a:r>
            <a:r>
              <a:rPr lang="en-US" altLang="zh-CN" sz="2000" dirty="0"/>
              <a:t>`Llama-3.3-70B-Instruct`</a:t>
            </a:r>
            <a:r>
              <a:rPr lang="zh-CN" altLang="en-US" sz="2000" dirty="0"/>
              <a:t>本身又有着许多的衍生模型。</a:t>
            </a:r>
            <a:endParaRPr lang="en-US" altLang="zh-CN" sz="2000" dirty="0"/>
          </a:p>
          <a:p>
            <a:pPr marL="342900" indent="-342900">
              <a:lnSpc>
                <a:spcPct val="150000"/>
              </a:lnSpc>
              <a:buFont typeface="Arial" panose="020B0604020202020204" pitchFamily="34" charset="0"/>
              <a:buChar char="•"/>
            </a:pPr>
            <a:r>
              <a:rPr lang="zh-CN" altLang="en-US" sz="2000" b="1" dirty="0"/>
              <a:t>生态网络构造过程</a:t>
            </a:r>
            <a:endParaRPr lang="en-US" altLang="zh-CN" sz="2000" dirty="0"/>
          </a:p>
          <a:p>
            <a:pPr>
              <a:lnSpc>
                <a:spcPct val="150000"/>
              </a:lnSpc>
            </a:pPr>
            <a:r>
              <a:rPr lang="en-US" altLang="zh-CN" sz="2000" dirty="0"/>
              <a:t>	</a:t>
            </a:r>
            <a:r>
              <a:rPr lang="zh-CN" altLang="en-US" sz="2000" dirty="0"/>
              <a:t>以一个</a:t>
            </a:r>
            <a:r>
              <a:rPr lang="en-US" altLang="zh-CN" sz="2000" dirty="0"/>
              <a:t>Base Model</a:t>
            </a:r>
            <a:r>
              <a:rPr lang="zh-CN" altLang="en-US" sz="2000" dirty="0"/>
              <a:t>为根结点出发，它的衍生模型就是它的孩子结点，而它的衍生模型也可能会有更多的衍生模型</a:t>
            </a:r>
            <a:r>
              <a:rPr lang="en-US" altLang="zh-CN" sz="2000" dirty="0"/>
              <a:t>……</a:t>
            </a:r>
            <a:r>
              <a:rPr lang="zh-CN" altLang="en-US" sz="2000" dirty="0"/>
              <a:t>直至没有衍生模型的模型成为网络的叶子节点。而结点我们以模型作者的头像来表示，其大小与影响力值成正相关。</a:t>
            </a:r>
            <a:endParaRPr lang="en-US" altLang="zh-CN" sz="2000" dirty="0"/>
          </a:p>
        </p:txBody>
      </p:sp>
      <p:pic>
        <p:nvPicPr>
          <p:cNvPr id="7" name="图片 6" descr="表格&#10;&#10;描述已自动生成">
            <a:extLst>
              <a:ext uri="{FF2B5EF4-FFF2-40B4-BE49-F238E27FC236}">
                <a16:creationId xmlns:a16="http://schemas.microsoft.com/office/drawing/2014/main" id="{56E5741C-109B-DF59-6200-53FFA35DD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0775" y="1055046"/>
            <a:ext cx="5598126" cy="1997226"/>
          </a:xfrm>
          <a:prstGeom prst="rect">
            <a:avLst/>
          </a:prstGeom>
        </p:spPr>
      </p:pic>
    </p:spTree>
    <p:extLst>
      <p:ext uri="{BB962C8B-B14F-4D97-AF65-F5344CB8AC3E}">
        <p14:creationId xmlns:p14="http://schemas.microsoft.com/office/powerpoint/2010/main" val="3473623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D8C4C-DB3A-0A4D-EDFC-A8D92DDCDEA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EF1E13E2-7497-A8C8-E317-5DFD29CCFDFF}"/>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D6F8710E-CDB1-9761-14FB-C44728477E32}"/>
              </a:ext>
            </a:extLst>
          </p:cNvPr>
          <p:cNvSpPr txBox="1"/>
          <p:nvPr/>
        </p:nvSpPr>
        <p:spPr>
          <a:xfrm>
            <a:off x="647747" y="1415909"/>
            <a:ext cx="8806804" cy="707886"/>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2. Hugging Face - </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大模型生态网络</a:t>
            </a:r>
          </a:p>
          <a:p>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0F76B5D7-31AA-7C18-4D18-AF727F1EB8BD}"/>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6B115B24-6B80-8A46-E524-D6E2BD2F2CCB}"/>
              </a:ext>
            </a:extLst>
          </p:cNvPr>
          <p:cNvSpPr txBox="1"/>
          <p:nvPr/>
        </p:nvSpPr>
        <p:spPr>
          <a:xfrm>
            <a:off x="579153" y="2039181"/>
            <a:ext cx="10215847" cy="1430263"/>
          </a:xfrm>
          <a:prstGeom prst="rect">
            <a:avLst/>
          </a:prstGeom>
          <a:noFill/>
        </p:spPr>
        <p:txBody>
          <a:bodyPr wrap="square">
            <a:spAutoFit/>
          </a:bodyPr>
          <a:lstStyle/>
          <a:p>
            <a:pPr>
              <a:lnSpc>
                <a:spcPct val="150000"/>
              </a:lnSpc>
            </a:pPr>
            <a:r>
              <a:rPr lang="zh-CN" altLang="en-US" sz="2000" b="1" dirty="0"/>
              <a:t>展示：</a:t>
            </a:r>
            <a:endParaRPr lang="en-US" altLang="zh-CN" sz="2000" b="1" dirty="0"/>
          </a:p>
          <a:p>
            <a:pPr marL="342900" indent="-342900">
              <a:lnSpc>
                <a:spcPct val="150000"/>
              </a:lnSpc>
              <a:buFont typeface="Arial" panose="020B0604020202020204" pitchFamily="34" charset="0"/>
              <a:buChar char="•"/>
            </a:pPr>
            <a:r>
              <a:rPr lang="zh-CN" altLang="en-US" sz="2000" b="1" dirty="0"/>
              <a:t>单个模型</a:t>
            </a:r>
            <a:r>
              <a:rPr lang="zh-CN" altLang="en-US" sz="2000" dirty="0"/>
              <a:t>的生态网络图（以</a:t>
            </a:r>
            <a:r>
              <a:rPr lang="en-US" altLang="zh-CN" sz="2000" dirty="0"/>
              <a:t>Llama-3.1-70B</a:t>
            </a:r>
            <a:r>
              <a:rPr lang="zh-CN" altLang="en-US" sz="2000" dirty="0"/>
              <a:t>为例）</a:t>
            </a:r>
            <a:endParaRPr lang="en-US" altLang="zh-CN" sz="2000" dirty="0"/>
          </a:p>
          <a:p>
            <a:pPr marL="342900" indent="-342900">
              <a:lnSpc>
                <a:spcPct val="150000"/>
              </a:lnSpc>
              <a:buFont typeface="Arial" panose="020B0604020202020204" pitchFamily="34" charset="0"/>
              <a:buChar char="•"/>
            </a:pPr>
            <a:r>
              <a:rPr lang="zh-CN" altLang="en-US" sz="2000" b="1" dirty="0"/>
              <a:t>多个模型</a:t>
            </a:r>
            <a:r>
              <a:rPr lang="zh-CN" altLang="en-US" sz="2000" dirty="0"/>
              <a:t>的生态网络图（以</a:t>
            </a:r>
            <a:r>
              <a:rPr lang="en-US" altLang="zh-CN" sz="2000" dirty="0"/>
              <a:t>Meta-Llama</a:t>
            </a:r>
            <a:r>
              <a:rPr lang="zh-CN" altLang="en-US" sz="2000" dirty="0"/>
              <a:t>的模型为例）</a:t>
            </a:r>
            <a:endParaRPr lang="en-US" altLang="zh-CN" sz="2000" b="1" dirty="0"/>
          </a:p>
        </p:txBody>
      </p:sp>
      <p:pic>
        <p:nvPicPr>
          <p:cNvPr id="10" name="图片 9" descr="图表&#10;&#10;描述已自动生成">
            <a:extLst>
              <a:ext uri="{FF2B5EF4-FFF2-40B4-BE49-F238E27FC236}">
                <a16:creationId xmlns:a16="http://schemas.microsoft.com/office/drawing/2014/main" id="{812235A9-A5BD-5F0F-64B9-753713757A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 y="3429000"/>
            <a:ext cx="6020524" cy="3399908"/>
          </a:xfrm>
          <a:prstGeom prst="rect">
            <a:avLst/>
          </a:prstGeom>
        </p:spPr>
      </p:pic>
      <p:pic>
        <p:nvPicPr>
          <p:cNvPr id="8" name="图片 7" descr="图表, 图示&#10;&#10;描述已自动生成">
            <a:extLst>
              <a:ext uri="{FF2B5EF4-FFF2-40B4-BE49-F238E27FC236}">
                <a16:creationId xmlns:a16="http://schemas.microsoft.com/office/drawing/2014/main" id="{5E9CEABD-3B91-B84A-8978-6EEEF440F2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0605" y="951427"/>
            <a:ext cx="5338995" cy="2919430"/>
          </a:xfrm>
          <a:prstGeom prst="rect">
            <a:avLst/>
          </a:prstGeom>
        </p:spPr>
      </p:pic>
      <p:pic>
        <p:nvPicPr>
          <p:cNvPr id="11" name="图片 10" descr="图片包含 图示&#10;&#10;描述已自动生成">
            <a:extLst>
              <a:ext uri="{FF2B5EF4-FFF2-40B4-BE49-F238E27FC236}">
                <a16:creationId xmlns:a16="http://schemas.microsoft.com/office/drawing/2014/main" id="{2152FABA-D5FE-422D-F1C5-62090FCBC21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0605" y="3903714"/>
            <a:ext cx="5338995" cy="2954286"/>
          </a:xfrm>
          <a:prstGeom prst="rect">
            <a:avLst/>
          </a:prstGeom>
        </p:spPr>
      </p:pic>
    </p:spTree>
    <p:extLst>
      <p:ext uri="{BB962C8B-B14F-4D97-AF65-F5344CB8AC3E}">
        <p14:creationId xmlns:p14="http://schemas.microsoft.com/office/powerpoint/2010/main" val="72095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ABF5-D0CA-F71F-2E9B-970982411784}"/>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8F2C1C5-04EE-987F-EF87-E52DB4F958E7}"/>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二、效果展示</a:t>
            </a:r>
          </a:p>
        </p:txBody>
      </p:sp>
      <p:sp>
        <p:nvSpPr>
          <p:cNvPr id="2" name="文本框 1">
            <a:extLst>
              <a:ext uri="{FF2B5EF4-FFF2-40B4-BE49-F238E27FC236}">
                <a16:creationId xmlns:a16="http://schemas.microsoft.com/office/drawing/2014/main" id="{0D98A2D7-44FF-41C8-34A4-B81F1562E5E4}"/>
              </a:ext>
            </a:extLst>
          </p:cNvPr>
          <p:cNvSpPr txBox="1"/>
          <p:nvPr/>
        </p:nvSpPr>
        <p:spPr>
          <a:xfrm>
            <a:off x="647747" y="1415909"/>
            <a:ext cx="8806804" cy="400110"/>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2. Hugging Face - </a:t>
            </a:r>
            <a:r>
              <a:rPr lang="zh-CN" altLang="en-US" sz="2000" b="1" dirty="0"/>
              <a:t>大模型全局生态数据大屏</a:t>
            </a:r>
          </a:p>
        </p:txBody>
      </p:sp>
      <p:sp>
        <p:nvSpPr>
          <p:cNvPr id="5" name="矩形 4">
            <a:extLst>
              <a:ext uri="{FF2B5EF4-FFF2-40B4-BE49-F238E27FC236}">
                <a16:creationId xmlns:a16="http://schemas.microsoft.com/office/drawing/2014/main" id="{6C1D7619-9522-1097-D2EE-2F40004175BE}"/>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EFF91722-E0FB-F552-D630-019B33E5CC9A}"/>
              </a:ext>
            </a:extLst>
          </p:cNvPr>
          <p:cNvSpPr txBox="1"/>
          <p:nvPr/>
        </p:nvSpPr>
        <p:spPr>
          <a:xfrm>
            <a:off x="579153" y="2039181"/>
            <a:ext cx="4398289" cy="968598"/>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2000" dirty="0"/>
              <a:t>大屏视角独特</a:t>
            </a:r>
            <a:endParaRPr lang="en-US" altLang="zh-CN" sz="2000" dirty="0"/>
          </a:p>
          <a:p>
            <a:pPr marL="457200" indent="-457200">
              <a:lnSpc>
                <a:spcPct val="150000"/>
              </a:lnSpc>
              <a:buFont typeface="Arial" panose="020B0604020202020204" pitchFamily="34" charset="0"/>
              <a:buChar char="•"/>
            </a:pPr>
            <a:r>
              <a:rPr lang="zh-CN" altLang="en-US" sz="2000" dirty="0"/>
              <a:t>条目可互动</a:t>
            </a:r>
            <a:endParaRPr lang="en-US" altLang="zh-CN" sz="2000" dirty="0"/>
          </a:p>
        </p:txBody>
      </p:sp>
      <p:pic>
        <p:nvPicPr>
          <p:cNvPr id="10" name="图片 9" descr="电脑萤幕的截图&#10;&#10;描述已自动生成">
            <a:extLst>
              <a:ext uri="{FF2B5EF4-FFF2-40B4-BE49-F238E27FC236}">
                <a16:creationId xmlns:a16="http://schemas.microsoft.com/office/drawing/2014/main" id="{A43D29D2-E0D3-9911-B8B8-2E7A7B3416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5999" y="3721871"/>
            <a:ext cx="5018983" cy="3136129"/>
          </a:xfrm>
          <a:prstGeom prst="rect">
            <a:avLst/>
          </a:prstGeom>
        </p:spPr>
      </p:pic>
      <p:pic>
        <p:nvPicPr>
          <p:cNvPr id="12" name="图片 11" descr="图片包含 图形用户界面&#10;&#10;描述已自动生成">
            <a:extLst>
              <a:ext uri="{FF2B5EF4-FFF2-40B4-BE49-F238E27FC236}">
                <a16:creationId xmlns:a16="http://schemas.microsoft.com/office/drawing/2014/main" id="{0B8CC86F-DB11-1C83-BC4B-5E557A7840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4849" y="3721870"/>
            <a:ext cx="5018983" cy="3136129"/>
          </a:xfrm>
          <a:prstGeom prst="rect">
            <a:avLst/>
          </a:prstGeom>
        </p:spPr>
      </p:pic>
      <p:pic>
        <p:nvPicPr>
          <p:cNvPr id="14" name="图片 13" descr="图表, 树状图&#10;&#10;描述已自动生成">
            <a:extLst>
              <a:ext uri="{FF2B5EF4-FFF2-40B4-BE49-F238E27FC236}">
                <a16:creationId xmlns:a16="http://schemas.microsoft.com/office/drawing/2014/main" id="{C011F589-7622-A393-BA12-E5DE88304F5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5998" y="1205963"/>
            <a:ext cx="5018983" cy="2369258"/>
          </a:xfrm>
          <a:prstGeom prst="rect">
            <a:avLst/>
          </a:prstGeom>
        </p:spPr>
      </p:pic>
    </p:spTree>
    <p:extLst>
      <p:ext uri="{BB962C8B-B14F-4D97-AF65-F5344CB8AC3E}">
        <p14:creationId xmlns:p14="http://schemas.microsoft.com/office/powerpoint/2010/main" val="2618446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7E9F3-054E-6F8A-8BAB-4B9D78677EB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B39ED7BC-2449-81DD-A2BE-F7719F813893}"/>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三、技术细节</a:t>
            </a:r>
          </a:p>
        </p:txBody>
      </p:sp>
      <p:sp>
        <p:nvSpPr>
          <p:cNvPr id="2" name="文本框 1">
            <a:extLst>
              <a:ext uri="{FF2B5EF4-FFF2-40B4-BE49-F238E27FC236}">
                <a16:creationId xmlns:a16="http://schemas.microsoft.com/office/drawing/2014/main" id="{42861D26-6AAE-992B-A8A0-E07201BC3F7D}"/>
              </a:ext>
            </a:extLst>
          </p:cNvPr>
          <p:cNvSpPr txBox="1"/>
          <p:nvPr/>
        </p:nvSpPr>
        <p:spPr>
          <a:xfrm>
            <a:off x="647747" y="1415909"/>
            <a:ext cx="5038817" cy="400110"/>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1. GitHub</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部分</a:t>
            </a:r>
            <a:endParaRPr lang="zh-CN" altLang="en-US"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E6CEB939-2E50-598B-355B-86F72A4B0C5A}"/>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C0AF1A04-9199-85F7-8C0E-B6C8ABADC518}"/>
              </a:ext>
            </a:extLst>
          </p:cNvPr>
          <p:cNvSpPr txBox="1"/>
          <p:nvPr/>
        </p:nvSpPr>
        <p:spPr>
          <a:xfrm>
            <a:off x="280699" y="3810674"/>
            <a:ext cx="4306823" cy="2347950"/>
          </a:xfrm>
          <a:prstGeom prst="rect">
            <a:avLst/>
          </a:prstGeom>
          <a:noFill/>
        </p:spPr>
        <p:txBody>
          <a:bodyPr wrap="square">
            <a:spAutoFit/>
          </a:bodyPr>
          <a:lstStyle/>
          <a:p>
            <a:pPr algn="ctr">
              <a:lnSpc>
                <a:spcPct val="150000"/>
              </a:lnSpc>
            </a:pP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数据获取与处理</a:t>
            </a:r>
            <a:endParaRPr lang="en-US" altLang="zh-CN" sz="2000" dirty="0"/>
          </a:p>
          <a:p>
            <a:pPr marL="342900" indent="-342900">
              <a:lnSpc>
                <a:spcPct val="150000"/>
              </a:lnSpc>
              <a:buFont typeface="Arial" panose="020B0604020202020204" pitchFamily="34" charset="0"/>
              <a:buChar char="•"/>
            </a:pPr>
            <a:r>
              <a:rPr lang="zh-CN" altLang="en-US" sz="2000" b="1" dirty="0"/>
              <a:t>数据来源：</a:t>
            </a:r>
            <a:r>
              <a:rPr lang="en-US" altLang="zh-CN" sz="2000" b="1" dirty="0" err="1"/>
              <a:t>OpenDigger</a:t>
            </a:r>
            <a:endParaRPr lang="en-US" altLang="zh-CN" sz="2000" b="1" dirty="0"/>
          </a:p>
          <a:p>
            <a:pPr marL="342900" indent="-342900">
              <a:lnSpc>
                <a:spcPct val="150000"/>
              </a:lnSpc>
              <a:buFont typeface="Arial" panose="020B0604020202020204" pitchFamily="34" charset="0"/>
              <a:buChar char="•"/>
            </a:pPr>
            <a:r>
              <a:rPr lang="zh-CN" altLang="en-US" sz="2000" b="1" dirty="0"/>
              <a:t>进行缺失值处理、按时间合并等</a:t>
            </a:r>
            <a:endParaRPr lang="en-US" altLang="zh-CN" sz="2000" b="1" dirty="0"/>
          </a:p>
          <a:p>
            <a:pPr marL="342900" indent="-342900">
              <a:lnSpc>
                <a:spcPct val="150000"/>
              </a:lnSpc>
              <a:buFont typeface="Arial" panose="020B0604020202020204" pitchFamily="34" charset="0"/>
              <a:buChar char="•"/>
            </a:pPr>
            <a:r>
              <a:rPr lang="zh-CN" altLang="en-US" sz="2000" b="1" dirty="0"/>
              <a:t>为提高数据加载性能，采用了基于</a:t>
            </a:r>
            <a:r>
              <a:rPr lang="en-US" altLang="zh-CN" sz="2000" b="1" dirty="0" err="1"/>
              <a:t>localStorage</a:t>
            </a:r>
            <a:r>
              <a:rPr lang="zh-CN" altLang="en-US" sz="2000" b="1" dirty="0"/>
              <a:t>的多级缓存策略</a:t>
            </a:r>
            <a:endParaRPr lang="en-US" altLang="zh-CN" sz="2000" b="1" dirty="0"/>
          </a:p>
        </p:txBody>
      </p:sp>
      <p:pic>
        <p:nvPicPr>
          <p:cNvPr id="8" name="图形 7" descr="服务器 纯色填充">
            <a:extLst>
              <a:ext uri="{FF2B5EF4-FFF2-40B4-BE49-F238E27FC236}">
                <a16:creationId xmlns:a16="http://schemas.microsoft.com/office/drawing/2014/main" id="{E45C034B-8D5E-AD2A-EFDF-7C11C20401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01067" y="2336629"/>
            <a:ext cx="1466088" cy="1466088"/>
          </a:xfrm>
          <a:prstGeom prst="rect">
            <a:avLst/>
          </a:prstGeom>
        </p:spPr>
      </p:pic>
      <p:pic>
        <p:nvPicPr>
          <p:cNvPr id="9" name="图形 8" descr="算盘 纯色填充">
            <a:extLst>
              <a:ext uri="{FF2B5EF4-FFF2-40B4-BE49-F238E27FC236}">
                <a16:creationId xmlns:a16="http://schemas.microsoft.com/office/drawing/2014/main" id="{283A99BE-4074-41CE-3C53-26BF1B9A020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50408" y="2371681"/>
            <a:ext cx="1395984" cy="1395984"/>
          </a:xfrm>
          <a:prstGeom prst="rect">
            <a:avLst/>
          </a:prstGeom>
        </p:spPr>
      </p:pic>
      <p:sp>
        <p:nvSpPr>
          <p:cNvPr id="10" name="文本框 9">
            <a:extLst>
              <a:ext uri="{FF2B5EF4-FFF2-40B4-BE49-F238E27FC236}">
                <a16:creationId xmlns:a16="http://schemas.microsoft.com/office/drawing/2014/main" id="{A1EC6A4A-1955-AA72-3A25-2A4EA365921F}"/>
              </a:ext>
            </a:extLst>
          </p:cNvPr>
          <p:cNvSpPr txBox="1"/>
          <p:nvPr/>
        </p:nvSpPr>
        <p:spPr>
          <a:xfrm>
            <a:off x="4685375" y="3868007"/>
            <a:ext cx="3324803" cy="2347950"/>
          </a:xfrm>
          <a:prstGeom prst="rect">
            <a:avLst/>
          </a:prstGeom>
          <a:noFill/>
        </p:spPr>
        <p:txBody>
          <a:bodyPr wrap="square">
            <a:spAutoFit/>
          </a:bodyPr>
          <a:lstStyle/>
          <a:p>
            <a:pPr algn="ctr">
              <a:lnSpc>
                <a:spcPct val="150000"/>
              </a:lnSpc>
            </a:pP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评分算法的实现</a:t>
            </a:r>
            <a:endPar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endParaRPr>
          </a:p>
          <a:p>
            <a:pPr marL="342900" indent="-342900">
              <a:lnSpc>
                <a:spcPct val="150000"/>
              </a:lnSpc>
              <a:buFont typeface="Arial" panose="020B0604020202020204" pitchFamily="34" charset="0"/>
              <a:buChar char="•"/>
            </a:pPr>
            <a:r>
              <a:rPr lang="zh-CN" altLang="en-US" sz="2000" b="1" dirty="0"/>
              <a:t>部分参考</a:t>
            </a:r>
            <a:r>
              <a:rPr lang="en-US" altLang="zh-CN" sz="2000" b="1" dirty="0" err="1"/>
              <a:t>OpenDigger</a:t>
            </a:r>
            <a:endParaRPr lang="en-US" altLang="zh-CN" sz="2000" b="1" dirty="0"/>
          </a:p>
          <a:p>
            <a:pPr marL="342900" indent="-342900">
              <a:lnSpc>
                <a:spcPct val="150000"/>
              </a:lnSpc>
              <a:buFont typeface="Arial" panose="020B0604020202020204" pitchFamily="34" charset="0"/>
              <a:buChar char="•"/>
            </a:pPr>
            <a:r>
              <a:rPr lang="zh-CN" altLang="en-US" sz="2000" b="1" dirty="0"/>
              <a:t>对代码质量和社区活跃度设计评分算法</a:t>
            </a:r>
            <a:endParaRPr lang="en-US" altLang="zh-CN" sz="2000" b="1" dirty="0"/>
          </a:p>
          <a:p>
            <a:pPr marL="342900" indent="-342900">
              <a:lnSpc>
                <a:spcPct val="150000"/>
              </a:lnSpc>
              <a:buFont typeface="Arial" panose="020B0604020202020204" pitchFamily="34" charset="0"/>
              <a:buChar char="•"/>
            </a:pPr>
            <a:r>
              <a:rPr lang="zh-CN" altLang="en-US" sz="2000" b="1" dirty="0"/>
              <a:t>详见产品技术文档</a:t>
            </a:r>
            <a:endParaRPr lang="en-US" altLang="zh-CN" sz="2000" b="1" dirty="0"/>
          </a:p>
        </p:txBody>
      </p:sp>
      <p:pic>
        <p:nvPicPr>
          <p:cNvPr id="12" name="图形 11" descr="插画家 纯色填充">
            <a:extLst>
              <a:ext uri="{FF2B5EF4-FFF2-40B4-BE49-F238E27FC236}">
                <a16:creationId xmlns:a16="http://schemas.microsoft.com/office/drawing/2014/main" id="{464859F1-AD00-D58B-F2E7-3137CDD1F27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29644" y="2371680"/>
            <a:ext cx="1466087" cy="1466087"/>
          </a:xfrm>
          <a:prstGeom prst="rect">
            <a:avLst/>
          </a:prstGeom>
        </p:spPr>
      </p:pic>
      <p:sp>
        <p:nvSpPr>
          <p:cNvPr id="13" name="文本框 12">
            <a:extLst>
              <a:ext uri="{FF2B5EF4-FFF2-40B4-BE49-F238E27FC236}">
                <a16:creationId xmlns:a16="http://schemas.microsoft.com/office/drawing/2014/main" id="{F17BCCE0-A805-BA34-CC38-D637B2C510A2}"/>
              </a:ext>
            </a:extLst>
          </p:cNvPr>
          <p:cNvSpPr txBox="1"/>
          <p:nvPr/>
        </p:nvSpPr>
        <p:spPr>
          <a:xfrm>
            <a:off x="8400285" y="3802717"/>
            <a:ext cx="3324803" cy="2352952"/>
          </a:xfrm>
          <a:prstGeom prst="rect">
            <a:avLst/>
          </a:prstGeom>
          <a:noFill/>
        </p:spPr>
        <p:txBody>
          <a:bodyPr wrap="square">
            <a:spAutoFit/>
          </a:bodyPr>
          <a:lstStyle/>
          <a:p>
            <a:pPr algn="ctr">
              <a:lnSpc>
                <a:spcPct val="150000"/>
              </a:lnSpc>
            </a:pP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可视化与性能优化</a:t>
            </a:r>
            <a:endPar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endParaRPr>
          </a:p>
          <a:p>
            <a:pPr marL="342900" indent="-342900">
              <a:lnSpc>
                <a:spcPct val="150000"/>
              </a:lnSpc>
              <a:buFont typeface="Arial" panose="020B0604020202020204" pitchFamily="34" charset="0"/>
              <a:buChar char="•"/>
            </a:pPr>
            <a:r>
              <a:rPr lang="en-US" altLang="zh-CN" sz="2000" b="1" dirty="0" err="1"/>
              <a:t>ECharts</a:t>
            </a:r>
            <a:r>
              <a:rPr lang="zh-CN" altLang="en-US" sz="2000" b="1" dirty="0"/>
              <a:t>配置优化</a:t>
            </a:r>
            <a:endParaRPr lang="en-US" altLang="zh-CN" sz="2000" b="1" dirty="0"/>
          </a:p>
          <a:p>
            <a:pPr marL="342900" indent="-342900">
              <a:lnSpc>
                <a:spcPct val="150000"/>
              </a:lnSpc>
              <a:buFont typeface="Arial" panose="020B0604020202020204" pitchFamily="34" charset="0"/>
              <a:buChar char="•"/>
            </a:pPr>
            <a:r>
              <a:rPr lang="zh-CN" altLang="en-US" sz="2000" b="1" dirty="0"/>
              <a:t>数据抽稀与动态加载</a:t>
            </a:r>
            <a:endParaRPr lang="en-US" altLang="zh-CN" sz="2000" b="1" dirty="0"/>
          </a:p>
          <a:p>
            <a:pPr marL="342900" indent="-342900">
              <a:lnSpc>
                <a:spcPct val="150000"/>
              </a:lnSpc>
              <a:buFont typeface="Arial" panose="020B0604020202020204" pitchFamily="34" charset="0"/>
              <a:buChar char="•"/>
            </a:pPr>
            <a:r>
              <a:rPr lang="en-US" altLang="zh-CN" sz="2000" b="1" dirty="0"/>
              <a:t>React Context</a:t>
            </a:r>
            <a:r>
              <a:rPr lang="zh-CN" altLang="en-US" sz="2000" b="1" dirty="0"/>
              <a:t>优化</a:t>
            </a:r>
            <a:endPar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endParaRPr>
          </a:p>
          <a:p>
            <a:pPr marL="342900" indent="-342900">
              <a:lnSpc>
                <a:spcPct val="150000"/>
              </a:lnSpc>
              <a:buFont typeface="Arial" panose="020B0604020202020204" pitchFamily="34" charset="0"/>
              <a:buChar char="•"/>
            </a:pPr>
            <a:r>
              <a:rPr lang="zh-CN" altLang="en-US" sz="2000" b="1" dirty="0"/>
              <a:t>数据预加载与虚拟列表</a:t>
            </a:r>
            <a:endParaRPr lang="en-US" altLang="zh-CN" sz="2000" b="1" dirty="0"/>
          </a:p>
        </p:txBody>
      </p:sp>
    </p:spTree>
    <p:extLst>
      <p:ext uri="{BB962C8B-B14F-4D97-AF65-F5344CB8AC3E}">
        <p14:creationId xmlns:p14="http://schemas.microsoft.com/office/powerpoint/2010/main" val="75394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F8E51-679E-6A32-D0F8-06D2ECD67DDC}"/>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7381B03F-E003-BE3E-AA34-4F8B6FB0FA8B}"/>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三、技术细节</a:t>
            </a:r>
          </a:p>
        </p:txBody>
      </p:sp>
      <p:sp>
        <p:nvSpPr>
          <p:cNvPr id="2" name="文本框 1">
            <a:extLst>
              <a:ext uri="{FF2B5EF4-FFF2-40B4-BE49-F238E27FC236}">
                <a16:creationId xmlns:a16="http://schemas.microsoft.com/office/drawing/2014/main" id="{EBAF7440-7630-9001-CCE9-3CE5E31A3E33}"/>
              </a:ext>
            </a:extLst>
          </p:cNvPr>
          <p:cNvSpPr txBox="1"/>
          <p:nvPr/>
        </p:nvSpPr>
        <p:spPr>
          <a:xfrm>
            <a:off x="647747" y="1415909"/>
            <a:ext cx="5038817" cy="400110"/>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2. Hugging Face</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平台部分</a:t>
            </a:r>
            <a:endParaRPr lang="zh-CN" altLang="en-US" sz="20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53B051B2-FD02-7531-E794-90A18CFA72A0}"/>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95EB3A2-AC38-52F4-3819-0624AB111578}"/>
              </a:ext>
            </a:extLst>
          </p:cNvPr>
          <p:cNvSpPr txBox="1"/>
          <p:nvPr/>
        </p:nvSpPr>
        <p:spPr>
          <a:xfrm>
            <a:off x="4252327" y="1011620"/>
            <a:ext cx="7570375" cy="1754326"/>
          </a:xfrm>
          <a:prstGeom prst="rect">
            <a:avLst/>
          </a:prstGeom>
          <a:noFill/>
        </p:spPr>
        <p:txBody>
          <a:bodyPr wrap="square" rtlCol="0">
            <a:spAutoFit/>
          </a:bodyPr>
          <a:lstStyle/>
          <a:p>
            <a:pPr marL="285750" indent="-285750">
              <a:buFont typeface="Arial" panose="020B0604020202020204" pitchFamily="34" charset="0"/>
              <a:buChar char="•"/>
            </a:pPr>
            <a:r>
              <a:rPr lang="zh-CN" altLang="zh-CN" sz="1800" dirty="0">
                <a:effectLst/>
                <a:ea typeface="等线" panose="02010600030101010101" pitchFamily="2" charset="-122"/>
                <a:cs typeface="Times New Roman" panose="02020603050405020304" pitchFamily="18" charset="0"/>
              </a:rPr>
              <a:t>影响力算法</a:t>
            </a:r>
            <a:r>
              <a:rPr lang="zh-CN" altLang="en-US" sz="1800" dirty="0">
                <a:effectLst/>
                <a:ea typeface="等线" panose="02010600030101010101" pitchFamily="2" charset="-122"/>
                <a:cs typeface="Times New Roman" panose="02020603050405020304" pitchFamily="18" charset="0"/>
              </a:rPr>
              <a:t>参考了</a:t>
            </a:r>
            <a:r>
              <a:rPr lang="en-US" altLang="zh-CN" sz="1800" dirty="0" err="1">
                <a:effectLst/>
                <a:ea typeface="等线" panose="02010600030101010101" pitchFamily="2" charset="-122"/>
                <a:cs typeface="Times New Roman" panose="02020603050405020304" pitchFamily="18" charset="0"/>
              </a:rPr>
              <a:t>OpenRank</a:t>
            </a:r>
            <a:r>
              <a:rPr lang="zh-CN" altLang="en-US" sz="1800" dirty="0">
                <a:effectLst/>
                <a:ea typeface="等线" panose="02010600030101010101" pitchFamily="2" charset="-122"/>
                <a:cs typeface="Times New Roman" panose="02020603050405020304" pitchFamily="18" charset="0"/>
              </a:rPr>
              <a:t>算法</a:t>
            </a:r>
            <a:r>
              <a:rPr lang="zh-CN" altLang="en-US" dirty="0">
                <a:ea typeface="等线" panose="02010600030101010101" pitchFamily="2" charset="-122"/>
                <a:cs typeface="Times New Roman" panose="02020603050405020304" pitchFamily="18" charset="0"/>
              </a:rPr>
              <a:t>，</a:t>
            </a:r>
            <a:r>
              <a:rPr lang="zh-CN" altLang="zh-CN" dirty="0">
                <a:ea typeface="等线" panose="02010600030101010101" pitchFamily="2" charset="-122"/>
                <a:cs typeface="Times New Roman" panose="02020603050405020304" pitchFamily="18" charset="0"/>
              </a:rPr>
              <a:t>是一个迭代过程，它结合了结点自身的属性、子结点的反馈以及父结点的影响来评估每个节点在整个图中的影响力。</a:t>
            </a:r>
            <a:endParaRPr lang="en-US" altLang="zh-CN" dirty="0">
              <a:ea typeface="等线"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我们采用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PyVis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库进行关系网络图的可视化绘制。为了使网络图更加美观，我们设计了八种不同的筛选结点的方式。 </a:t>
            </a:r>
          </a:p>
          <a:p>
            <a:endParaRPr lang="zh-CN" altLang="en-US" dirty="0"/>
          </a:p>
        </p:txBody>
      </p:sp>
      <p:grpSp>
        <p:nvGrpSpPr>
          <p:cNvPr id="8" name="组合 7">
            <a:extLst>
              <a:ext uri="{FF2B5EF4-FFF2-40B4-BE49-F238E27FC236}">
                <a16:creationId xmlns:a16="http://schemas.microsoft.com/office/drawing/2014/main" id="{D1B1E5CE-355E-365E-0E54-6E177615D7B5}"/>
              </a:ext>
            </a:extLst>
          </p:cNvPr>
          <p:cNvGrpSpPr/>
          <p:nvPr/>
        </p:nvGrpSpPr>
        <p:grpSpPr>
          <a:xfrm>
            <a:off x="1891439" y="2240595"/>
            <a:ext cx="7590249" cy="4594787"/>
            <a:chOff x="1891439" y="2240595"/>
            <a:chExt cx="7590249" cy="4594787"/>
          </a:xfrm>
        </p:grpSpPr>
        <p:grpSp>
          <p:nvGrpSpPr>
            <p:cNvPr id="9" name="组合 8">
              <a:extLst>
                <a:ext uri="{FF2B5EF4-FFF2-40B4-BE49-F238E27FC236}">
                  <a16:creationId xmlns:a16="http://schemas.microsoft.com/office/drawing/2014/main" id="{15D83772-E17F-5451-145C-5CA00BB4CA72}"/>
                </a:ext>
              </a:extLst>
            </p:cNvPr>
            <p:cNvGrpSpPr/>
            <p:nvPr/>
          </p:nvGrpSpPr>
          <p:grpSpPr>
            <a:xfrm>
              <a:off x="1891439" y="2240595"/>
              <a:ext cx="7590249" cy="2801387"/>
              <a:chOff x="1891439" y="2341179"/>
              <a:chExt cx="7590249" cy="2801387"/>
            </a:xfrm>
          </p:grpSpPr>
          <p:grpSp>
            <p:nvGrpSpPr>
              <p:cNvPr id="14" name="组合 13">
                <a:extLst>
                  <a:ext uri="{FF2B5EF4-FFF2-40B4-BE49-F238E27FC236}">
                    <a16:creationId xmlns:a16="http://schemas.microsoft.com/office/drawing/2014/main" id="{E5B6616B-9271-F91B-E334-DB3CD0BE7D8A}"/>
                  </a:ext>
                </a:extLst>
              </p:cNvPr>
              <p:cNvGrpSpPr/>
              <p:nvPr/>
            </p:nvGrpSpPr>
            <p:grpSpPr>
              <a:xfrm>
                <a:off x="1891439" y="2341179"/>
                <a:ext cx="7590249" cy="2801387"/>
                <a:chOff x="569694" y="551849"/>
                <a:chExt cx="8969930" cy="3392507"/>
              </a:xfrm>
            </p:grpSpPr>
            <p:grpSp>
              <p:nvGrpSpPr>
                <p:cNvPr id="16" name="组合 15">
                  <a:extLst>
                    <a:ext uri="{FF2B5EF4-FFF2-40B4-BE49-F238E27FC236}">
                      <a16:creationId xmlns:a16="http://schemas.microsoft.com/office/drawing/2014/main" id="{29013A38-2201-B351-97AF-CC46656AC761}"/>
                    </a:ext>
                  </a:extLst>
                </p:cNvPr>
                <p:cNvGrpSpPr/>
                <p:nvPr/>
              </p:nvGrpSpPr>
              <p:grpSpPr>
                <a:xfrm>
                  <a:off x="1091264" y="551849"/>
                  <a:ext cx="1324677" cy="1346114"/>
                  <a:chOff x="1091264" y="551849"/>
                  <a:chExt cx="1324677" cy="1346114"/>
                </a:xfrm>
              </p:grpSpPr>
              <p:pic>
                <p:nvPicPr>
                  <p:cNvPr id="28" name="图形 27">
                    <a:extLst>
                      <a:ext uri="{FF2B5EF4-FFF2-40B4-BE49-F238E27FC236}">
                        <a16:creationId xmlns:a16="http://schemas.microsoft.com/office/drawing/2014/main" id="{C0AD7899-5EEB-4BC8-D43C-B9BF45FD1CD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1264" y="551849"/>
                    <a:ext cx="930041" cy="930041"/>
                  </a:xfrm>
                  <a:prstGeom prst="rect">
                    <a:avLst/>
                  </a:prstGeom>
                </p:spPr>
              </p:pic>
              <p:sp>
                <p:nvSpPr>
                  <p:cNvPr id="29" name="文本框 28">
                    <a:extLst>
                      <a:ext uri="{FF2B5EF4-FFF2-40B4-BE49-F238E27FC236}">
                        <a16:creationId xmlns:a16="http://schemas.microsoft.com/office/drawing/2014/main" id="{FCF592A3-3547-F2DF-B2DE-F6BA499D4861}"/>
                      </a:ext>
                    </a:extLst>
                  </p:cNvPr>
                  <p:cNvSpPr txBox="1"/>
                  <p:nvPr/>
                </p:nvSpPr>
                <p:spPr>
                  <a:xfrm>
                    <a:off x="1260909" y="1528631"/>
                    <a:ext cx="1155032" cy="369332"/>
                  </a:xfrm>
                  <a:prstGeom prst="rect">
                    <a:avLst/>
                  </a:prstGeom>
                  <a:noFill/>
                </p:spPr>
                <p:txBody>
                  <a:bodyPr wrap="square" rtlCol="0">
                    <a:spAutoFit/>
                  </a:bodyPr>
                  <a:lstStyle/>
                  <a:p>
                    <a:r>
                      <a:rPr lang="zh-CN" altLang="en-US" dirty="0"/>
                      <a:t>爬虫</a:t>
                    </a:r>
                  </a:p>
                </p:txBody>
              </p:sp>
            </p:grpSp>
            <p:grpSp>
              <p:nvGrpSpPr>
                <p:cNvPr id="17" name="组合 16">
                  <a:extLst>
                    <a:ext uri="{FF2B5EF4-FFF2-40B4-BE49-F238E27FC236}">
                      <a16:creationId xmlns:a16="http://schemas.microsoft.com/office/drawing/2014/main" id="{9B2EC6E3-6478-E8DF-15C5-54CC116A6276}"/>
                    </a:ext>
                  </a:extLst>
                </p:cNvPr>
                <p:cNvGrpSpPr/>
                <p:nvPr/>
              </p:nvGrpSpPr>
              <p:grpSpPr>
                <a:xfrm>
                  <a:off x="569694" y="2181197"/>
                  <a:ext cx="2211504" cy="1763159"/>
                  <a:chOff x="569694" y="2181197"/>
                  <a:chExt cx="2211504" cy="1763159"/>
                </a:xfrm>
              </p:grpSpPr>
              <p:pic>
                <p:nvPicPr>
                  <p:cNvPr id="26" name="图形 25">
                    <a:extLst>
                      <a:ext uri="{FF2B5EF4-FFF2-40B4-BE49-F238E27FC236}">
                        <a16:creationId xmlns:a16="http://schemas.microsoft.com/office/drawing/2014/main" id="{E9349AA7-FF69-EC38-7106-009D198307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1264" y="2181197"/>
                    <a:ext cx="930041" cy="930041"/>
                  </a:xfrm>
                  <a:prstGeom prst="rect">
                    <a:avLst/>
                  </a:prstGeom>
                </p:spPr>
              </p:pic>
              <p:sp>
                <p:nvSpPr>
                  <p:cNvPr id="27" name="文本框 26">
                    <a:extLst>
                      <a:ext uri="{FF2B5EF4-FFF2-40B4-BE49-F238E27FC236}">
                        <a16:creationId xmlns:a16="http://schemas.microsoft.com/office/drawing/2014/main" id="{B16B0956-8F88-B4CC-BEB1-1A01F71ED57E}"/>
                      </a:ext>
                    </a:extLst>
                  </p:cNvPr>
                  <p:cNvSpPr txBox="1"/>
                  <p:nvPr/>
                </p:nvSpPr>
                <p:spPr>
                  <a:xfrm>
                    <a:off x="569694" y="3161643"/>
                    <a:ext cx="2211504" cy="782713"/>
                  </a:xfrm>
                  <a:prstGeom prst="rect">
                    <a:avLst/>
                  </a:prstGeom>
                  <a:noFill/>
                </p:spPr>
                <p:txBody>
                  <a:bodyPr wrap="square" rtlCol="0">
                    <a:spAutoFit/>
                  </a:bodyPr>
                  <a:lstStyle/>
                  <a:p>
                    <a:pPr algn="ctr"/>
                    <a:r>
                      <a:rPr lang="en-US" altLang="zh-CN" dirty="0" err="1"/>
                      <a:t>huggingface_hub</a:t>
                    </a:r>
                    <a:r>
                      <a:rPr lang="en-US" altLang="zh-CN" dirty="0"/>
                      <a:t> API</a:t>
                    </a:r>
                    <a:endParaRPr lang="zh-CN" altLang="en-US" dirty="0"/>
                  </a:p>
                </p:txBody>
              </p:sp>
            </p:grpSp>
            <p:pic>
              <p:nvPicPr>
                <p:cNvPr id="18" name="图形 17">
                  <a:extLst>
                    <a:ext uri="{FF2B5EF4-FFF2-40B4-BE49-F238E27FC236}">
                      <a16:creationId xmlns:a16="http://schemas.microsoft.com/office/drawing/2014/main" id="{B9BC1F41-82B1-4602-AE85-0FE8FE03D1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2873" y="1481890"/>
                  <a:ext cx="4127434" cy="1347937"/>
                </a:xfrm>
                <a:prstGeom prst="rect">
                  <a:avLst/>
                </a:prstGeom>
              </p:spPr>
            </p:pic>
            <p:grpSp>
              <p:nvGrpSpPr>
                <p:cNvPr id="19" name="组合 18">
                  <a:extLst>
                    <a:ext uri="{FF2B5EF4-FFF2-40B4-BE49-F238E27FC236}">
                      <a16:creationId xmlns:a16="http://schemas.microsoft.com/office/drawing/2014/main" id="{0F734BB6-A36D-B0F5-6713-CF91970B8F77}"/>
                    </a:ext>
                  </a:extLst>
                </p:cNvPr>
                <p:cNvGrpSpPr/>
                <p:nvPr/>
              </p:nvGrpSpPr>
              <p:grpSpPr>
                <a:xfrm>
                  <a:off x="4303409" y="645066"/>
                  <a:ext cx="1905802" cy="1392888"/>
                  <a:chOff x="3725408" y="578421"/>
                  <a:chExt cx="1905802" cy="1392888"/>
                </a:xfrm>
              </p:grpSpPr>
              <p:pic>
                <p:nvPicPr>
                  <p:cNvPr id="24" name="图形 23">
                    <a:extLst>
                      <a:ext uri="{FF2B5EF4-FFF2-40B4-BE49-F238E27FC236}">
                        <a16:creationId xmlns:a16="http://schemas.microsoft.com/office/drawing/2014/main" id="{8C3F5D6E-5482-423F-380A-F0955373AA9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904889" y="578421"/>
                    <a:ext cx="1055628" cy="1055626"/>
                  </a:xfrm>
                  <a:prstGeom prst="rect">
                    <a:avLst/>
                  </a:prstGeom>
                </p:spPr>
              </p:pic>
              <p:sp>
                <p:nvSpPr>
                  <p:cNvPr id="25" name="文本框 24">
                    <a:extLst>
                      <a:ext uri="{FF2B5EF4-FFF2-40B4-BE49-F238E27FC236}">
                        <a16:creationId xmlns:a16="http://schemas.microsoft.com/office/drawing/2014/main" id="{365AC019-E561-B864-56DF-DCC862E9ED7B}"/>
                      </a:ext>
                    </a:extLst>
                  </p:cNvPr>
                  <p:cNvSpPr txBox="1"/>
                  <p:nvPr/>
                </p:nvSpPr>
                <p:spPr>
                  <a:xfrm>
                    <a:off x="3725408" y="1601977"/>
                    <a:ext cx="1905802" cy="369332"/>
                  </a:xfrm>
                  <a:prstGeom prst="rect">
                    <a:avLst/>
                  </a:prstGeom>
                  <a:noFill/>
                </p:spPr>
                <p:txBody>
                  <a:bodyPr wrap="square" rtlCol="0">
                    <a:spAutoFit/>
                  </a:bodyPr>
                  <a:lstStyle/>
                  <a:p>
                    <a:r>
                      <a:rPr lang="zh-CN" altLang="en-US" dirty="0"/>
                      <a:t>影响力算法</a:t>
                    </a:r>
                  </a:p>
                </p:txBody>
              </p:sp>
            </p:grpSp>
            <p:grpSp>
              <p:nvGrpSpPr>
                <p:cNvPr id="20" name="组合 19">
                  <a:extLst>
                    <a:ext uri="{FF2B5EF4-FFF2-40B4-BE49-F238E27FC236}">
                      <a16:creationId xmlns:a16="http://schemas.microsoft.com/office/drawing/2014/main" id="{64EE2F20-5746-21CE-1B93-31E9973A19FB}"/>
                    </a:ext>
                  </a:extLst>
                </p:cNvPr>
                <p:cNvGrpSpPr/>
                <p:nvPr/>
              </p:nvGrpSpPr>
              <p:grpSpPr>
                <a:xfrm>
                  <a:off x="7140571" y="1212040"/>
                  <a:ext cx="2399053" cy="2075951"/>
                  <a:chOff x="7140571" y="1347979"/>
                  <a:chExt cx="2399053" cy="2075951"/>
                </a:xfrm>
              </p:grpSpPr>
              <p:pic>
                <p:nvPicPr>
                  <p:cNvPr id="22" name="图形 21">
                    <a:extLst>
                      <a:ext uri="{FF2B5EF4-FFF2-40B4-BE49-F238E27FC236}">
                        <a16:creationId xmlns:a16="http://schemas.microsoft.com/office/drawing/2014/main" id="{613C7070-2754-4E42-B90F-F9F370A51AE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80893" y="1347979"/>
                    <a:ext cx="1601130" cy="1601130"/>
                  </a:xfrm>
                  <a:prstGeom prst="rect">
                    <a:avLst/>
                  </a:prstGeom>
                </p:spPr>
              </p:pic>
              <p:sp>
                <p:nvSpPr>
                  <p:cNvPr id="23" name="文本框 22">
                    <a:extLst>
                      <a:ext uri="{FF2B5EF4-FFF2-40B4-BE49-F238E27FC236}">
                        <a16:creationId xmlns:a16="http://schemas.microsoft.com/office/drawing/2014/main" id="{8EC6ADC8-C508-AA37-2F87-DA21DA7A44EB}"/>
                      </a:ext>
                    </a:extLst>
                  </p:cNvPr>
                  <p:cNvSpPr txBox="1"/>
                  <p:nvPr/>
                </p:nvSpPr>
                <p:spPr>
                  <a:xfrm>
                    <a:off x="7140571" y="3054598"/>
                    <a:ext cx="2399053" cy="369332"/>
                  </a:xfrm>
                  <a:prstGeom prst="rect">
                    <a:avLst/>
                  </a:prstGeom>
                  <a:noFill/>
                </p:spPr>
                <p:txBody>
                  <a:bodyPr wrap="square" rtlCol="0">
                    <a:spAutoFit/>
                  </a:bodyPr>
                  <a:lstStyle/>
                  <a:p>
                    <a:r>
                      <a:rPr lang="zh-CN" altLang="en-US" dirty="0"/>
                      <a:t>大模型生态网络图</a:t>
                    </a:r>
                  </a:p>
                </p:txBody>
              </p:sp>
            </p:grpSp>
            <p:sp>
              <p:nvSpPr>
                <p:cNvPr id="21" name="文本框 20">
                  <a:extLst>
                    <a:ext uri="{FF2B5EF4-FFF2-40B4-BE49-F238E27FC236}">
                      <a16:creationId xmlns:a16="http://schemas.microsoft.com/office/drawing/2014/main" id="{DD0C64B2-1203-6F55-560A-EEA6A772B4E7}"/>
                    </a:ext>
                  </a:extLst>
                </p:cNvPr>
                <p:cNvSpPr txBox="1"/>
                <p:nvPr/>
              </p:nvSpPr>
              <p:spPr>
                <a:xfrm>
                  <a:off x="4312833" y="3259597"/>
                  <a:ext cx="1483652" cy="447265"/>
                </a:xfrm>
                <a:prstGeom prst="rect">
                  <a:avLst/>
                </a:prstGeom>
                <a:noFill/>
              </p:spPr>
              <p:txBody>
                <a:bodyPr wrap="square" rtlCol="0">
                  <a:spAutoFit/>
                </a:bodyPr>
                <a:lstStyle/>
                <a:p>
                  <a:pPr algn="ctr"/>
                  <a:r>
                    <a:rPr lang="en-US" altLang="zh-CN" dirty="0" err="1"/>
                    <a:t>PyVis</a:t>
                  </a:r>
                  <a:endParaRPr lang="zh-CN" altLang="en-US" dirty="0"/>
                </a:p>
              </p:txBody>
            </p:sp>
          </p:grpSp>
          <p:pic>
            <p:nvPicPr>
              <p:cNvPr id="15" name="图片 14">
                <a:extLst>
                  <a:ext uri="{FF2B5EF4-FFF2-40B4-BE49-F238E27FC236}">
                    <a16:creationId xmlns:a16="http://schemas.microsoft.com/office/drawing/2014/main" id="{7A56E643-E827-A8FD-1C87-95A299EC5FF0}"/>
                  </a:ext>
                </a:extLst>
              </p:cNvPr>
              <p:cNvPicPr>
                <a:picLocks noChangeAspect="1"/>
              </p:cNvPicPr>
              <p:nvPr/>
            </p:nvPicPr>
            <p:blipFill>
              <a:blip r:embed="rId13"/>
              <a:stretch>
                <a:fillRect/>
              </a:stretch>
            </p:blipFill>
            <p:spPr>
              <a:xfrm>
                <a:off x="5309010" y="3883040"/>
                <a:ext cx="786990" cy="717527"/>
              </a:xfrm>
              <a:prstGeom prst="rect">
                <a:avLst/>
              </a:prstGeom>
            </p:spPr>
          </p:pic>
        </p:grpSp>
        <p:pic>
          <p:nvPicPr>
            <p:cNvPr id="10" name="图形 9">
              <a:extLst>
                <a:ext uri="{FF2B5EF4-FFF2-40B4-BE49-F238E27FC236}">
                  <a16:creationId xmlns:a16="http://schemas.microsoft.com/office/drawing/2014/main" id="{F70A7458-99A9-5493-7DAF-9CFD6033ECE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592103" y="4897280"/>
              <a:ext cx="1430049" cy="1291771"/>
            </a:xfrm>
            <a:prstGeom prst="rect">
              <a:avLst/>
            </a:prstGeom>
          </p:spPr>
        </p:pic>
        <p:pic>
          <p:nvPicPr>
            <p:cNvPr id="12" name="图形 11">
              <a:extLst>
                <a:ext uri="{FF2B5EF4-FFF2-40B4-BE49-F238E27FC236}">
                  <a16:creationId xmlns:a16="http://schemas.microsoft.com/office/drawing/2014/main" id="{E0B90263-8D4B-AA06-8835-07916493894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rot="1303077">
              <a:off x="3893108" y="4607377"/>
              <a:ext cx="3368962" cy="1067657"/>
            </a:xfrm>
            <a:prstGeom prst="rect">
              <a:avLst/>
            </a:prstGeom>
          </p:spPr>
        </p:pic>
        <p:sp>
          <p:nvSpPr>
            <p:cNvPr id="13" name="文本框 12">
              <a:extLst>
                <a:ext uri="{FF2B5EF4-FFF2-40B4-BE49-F238E27FC236}">
                  <a16:creationId xmlns:a16="http://schemas.microsoft.com/office/drawing/2014/main" id="{AD6784C5-630F-698A-6EAF-E28C7283B7FB}"/>
                </a:ext>
              </a:extLst>
            </p:cNvPr>
            <p:cNvSpPr txBox="1"/>
            <p:nvPr/>
          </p:nvSpPr>
          <p:spPr>
            <a:xfrm>
              <a:off x="7311138" y="6189051"/>
              <a:ext cx="2170550" cy="646331"/>
            </a:xfrm>
            <a:prstGeom prst="rect">
              <a:avLst/>
            </a:prstGeom>
            <a:noFill/>
          </p:spPr>
          <p:txBody>
            <a:bodyPr wrap="square" rtlCol="0">
              <a:spAutoFit/>
            </a:bodyPr>
            <a:lstStyle/>
            <a:p>
              <a:pPr algn="ctr"/>
              <a:r>
                <a:rPr lang="zh-CN" altLang="en-US" dirty="0"/>
                <a:t>数据大屏与</a:t>
              </a:r>
              <a:endParaRPr lang="en-US" altLang="zh-CN" dirty="0"/>
            </a:p>
            <a:p>
              <a:pPr algn="ctr"/>
              <a:r>
                <a:rPr lang="en-US" altLang="zh-CN" dirty="0"/>
                <a:t>LLM Leaderboard</a:t>
              </a:r>
              <a:endParaRPr lang="zh-CN" altLang="en-US" dirty="0"/>
            </a:p>
          </p:txBody>
        </p:sp>
      </p:grpSp>
      <p:sp>
        <p:nvSpPr>
          <p:cNvPr id="30" name="文本框 29">
            <a:extLst>
              <a:ext uri="{FF2B5EF4-FFF2-40B4-BE49-F238E27FC236}">
                <a16:creationId xmlns:a16="http://schemas.microsoft.com/office/drawing/2014/main" id="{386EDC27-CB1E-F8A3-B575-F58FDBAD582D}"/>
              </a:ext>
            </a:extLst>
          </p:cNvPr>
          <p:cNvSpPr txBox="1"/>
          <p:nvPr/>
        </p:nvSpPr>
        <p:spPr>
          <a:xfrm>
            <a:off x="1298448" y="5858235"/>
            <a:ext cx="5907759" cy="923330"/>
          </a:xfrm>
          <a:prstGeom prst="rect">
            <a:avLst/>
          </a:prstGeom>
          <a:noFill/>
        </p:spPr>
        <p:txBody>
          <a:bodyPr wrap="square" rtlCol="0">
            <a:spAutoFit/>
          </a:bodyPr>
          <a:lstStyle/>
          <a:p>
            <a:pPr marL="285750" indent="-285750">
              <a:buFont typeface="Arial" panose="020B0604020202020204" pitchFamily="34" charset="0"/>
              <a:buChar char="•"/>
            </a:pPr>
            <a:r>
              <a:rPr lang="zh-CN" altLang="zh-CN" sz="1800" dirty="0">
                <a:effectLst/>
                <a:ea typeface="等线" panose="02010600030101010101" pitchFamily="2" charset="-122"/>
                <a:cs typeface="Times New Roman" panose="02020603050405020304" pitchFamily="18" charset="0"/>
              </a:rPr>
              <a:t>基于已有的这些数据，我们还构建了 </a:t>
            </a:r>
            <a:r>
              <a:rPr lang="en-US" altLang="zh-CN" sz="1800" dirty="0">
                <a:effectLst/>
                <a:ea typeface="等线" panose="02010600030101010101" pitchFamily="2" charset="-122"/>
                <a:cs typeface="Times New Roman" panose="02020603050405020304" pitchFamily="18" charset="0"/>
              </a:rPr>
              <a:t>LLM Leaderboard </a:t>
            </a:r>
            <a:r>
              <a:rPr lang="zh-CN" altLang="zh-CN" sz="1800" dirty="0">
                <a:effectLst/>
                <a:ea typeface="等线" panose="02010600030101010101" pitchFamily="2" charset="-122"/>
                <a:cs typeface="Times New Roman" panose="02020603050405020304" pitchFamily="18" charset="0"/>
              </a:rPr>
              <a:t>以及 大模型生态大屏，将我们的项目变得更像一个生态分析的应用。</a:t>
            </a:r>
            <a:endParaRPr lang="zh-CN" altLang="en-US" dirty="0"/>
          </a:p>
        </p:txBody>
      </p:sp>
    </p:spTree>
    <p:extLst>
      <p:ext uri="{BB962C8B-B14F-4D97-AF65-F5344CB8AC3E}">
        <p14:creationId xmlns:p14="http://schemas.microsoft.com/office/powerpoint/2010/main" val="2999132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40249-4B08-5B82-031D-059491766BAE}"/>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CAFB2BA-5D7E-E308-7DCD-2943602D1020}"/>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三、技术细节</a:t>
            </a:r>
          </a:p>
        </p:txBody>
      </p:sp>
      <p:sp>
        <p:nvSpPr>
          <p:cNvPr id="6" name="文本框 5">
            <a:extLst>
              <a:ext uri="{FF2B5EF4-FFF2-40B4-BE49-F238E27FC236}">
                <a16:creationId xmlns:a16="http://schemas.microsoft.com/office/drawing/2014/main" id="{FDCD9048-8066-1BDD-B447-3A7F369CC577}"/>
              </a:ext>
            </a:extLst>
          </p:cNvPr>
          <p:cNvSpPr txBox="1"/>
          <p:nvPr/>
        </p:nvSpPr>
        <p:spPr>
          <a:xfrm>
            <a:off x="647747" y="1415909"/>
            <a:ext cx="6710585" cy="400110"/>
          </a:xfrm>
          <a:prstGeom prst="rect">
            <a:avLst/>
          </a:prstGeom>
          <a:noFill/>
        </p:spPr>
        <p:txBody>
          <a:bodyPr wrap="square" rtlCol="0">
            <a:spAutoFit/>
          </a:bodyPr>
          <a:lstStyle/>
          <a:p>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2. Hugging Face</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平台部分 </a:t>
            </a:r>
            <a:r>
              <a:rPr lang="en-US" altLang="zh-CN"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影响力算法</a:t>
            </a:r>
            <a:endParaRPr lang="zh-CN" altLang="en-US" sz="20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8EF49BEC-CBFE-F3BB-8F6F-9D489D070D02}"/>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C1A1A7C-02D4-8AE0-82BC-CDC246536363}"/>
              </a:ext>
            </a:extLst>
          </p:cNvPr>
          <p:cNvSpPr txBox="1"/>
          <p:nvPr/>
        </p:nvSpPr>
        <p:spPr>
          <a:xfrm>
            <a:off x="789063" y="2045756"/>
            <a:ext cx="10942862" cy="1891928"/>
          </a:xfrm>
          <a:prstGeom prst="rect">
            <a:avLst/>
          </a:prstGeom>
          <a:noFill/>
        </p:spPr>
        <p:txBody>
          <a:bodyPr wrap="square">
            <a:spAutoFit/>
          </a:bodyPr>
          <a:lstStyle/>
          <a:p>
            <a:pPr>
              <a:lnSpc>
                <a:spcPct val="150000"/>
              </a:lnSpc>
            </a:pPr>
            <a:r>
              <a:rPr lang="zh-CN" altLang="en-US" sz="2000" dirty="0"/>
              <a:t>在</a:t>
            </a:r>
            <a:r>
              <a:rPr lang="en-US" altLang="zh-CN" sz="2000" dirty="0"/>
              <a:t>data_hf/graph_computing.py</a:t>
            </a:r>
            <a:r>
              <a:rPr lang="zh-CN" altLang="en-US" sz="2000" dirty="0"/>
              <a:t>中，我们设计了影响力算法。我们的影响力算法是一个迭代过程，它结合了节点自身的属性、子节点（直接后继节点）的反馈以及父节点（直接前驱节点）的影响来评估每个节点在整个图中的影响力。这个过程考虑到了时间衰减因素，并且对不同类型的影响力分配了不同的权重。</a:t>
            </a:r>
            <a:endParaRPr lang="en-US" altLang="zh-CN" sz="2000" dirty="0"/>
          </a:p>
        </p:txBody>
      </p:sp>
    </p:spTree>
    <p:extLst>
      <p:ext uri="{BB962C8B-B14F-4D97-AF65-F5344CB8AC3E}">
        <p14:creationId xmlns:p14="http://schemas.microsoft.com/office/powerpoint/2010/main" val="2121042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8598D-6B62-369D-DAC2-4503C7A708E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CEC59D8D-1E91-3DB6-8272-751B41D198B9}"/>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四、难点与创新</a:t>
            </a:r>
          </a:p>
        </p:txBody>
      </p:sp>
      <p:sp>
        <p:nvSpPr>
          <p:cNvPr id="2" name="文本框 1">
            <a:extLst>
              <a:ext uri="{FF2B5EF4-FFF2-40B4-BE49-F238E27FC236}">
                <a16:creationId xmlns:a16="http://schemas.microsoft.com/office/drawing/2014/main" id="{2268D5F9-FE63-8CC0-8FBC-F82254382C00}"/>
              </a:ext>
            </a:extLst>
          </p:cNvPr>
          <p:cNvSpPr txBox="1"/>
          <p:nvPr/>
        </p:nvSpPr>
        <p:spPr>
          <a:xfrm>
            <a:off x="647747" y="1415909"/>
            <a:ext cx="3356362" cy="400110"/>
          </a:xfrm>
          <a:prstGeom prst="rect">
            <a:avLst/>
          </a:prstGeom>
          <a:noFill/>
        </p:spPr>
        <p:txBody>
          <a:bodyPr wrap="square" rtlCol="0">
            <a:spAutoFit/>
          </a:bodyPr>
          <a:lstStyle/>
          <a:p>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创新点</a:t>
            </a:r>
          </a:p>
        </p:txBody>
      </p:sp>
      <p:sp>
        <p:nvSpPr>
          <p:cNvPr id="5" name="矩形 4">
            <a:extLst>
              <a:ext uri="{FF2B5EF4-FFF2-40B4-BE49-F238E27FC236}">
                <a16:creationId xmlns:a16="http://schemas.microsoft.com/office/drawing/2014/main" id="{372BB02C-EC8B-5034-3D4D-46D0522194AF}"/>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9198ECB3-5999-7D7D-588D-82F4C78BFBC4}"/>
              </a:ext>
            </a:extLst>
          </p:cNvPr>
          <p:cNvGrpSpPr/>
          <p:nvPr/>
        </p:nvGrpSpPr>
        <p:grpSpPr>
          <a:xfrm>
            <a:off x="536082" y="2155943"/>
            <a:ext cx="11404702" cy="4213324"/>
            <a:chOff x="295451" y="1944236"/>
            <a:chExt cx="11404702" cy="4213324"/>
          </a:xfrm>
        </p:grpSpPr>
        <p:sp>
          <p:nvSpPr>
            <p:cNvPr id="3" name="文本框 2">
              <a:extLst>
                <a:ext uri="{FF2B5EF4-FFF2-40B4-BE49-F238E27FC236}">
                  <a16:creationId xmlns:a16="http://schemas.microsoft.com/office/drawing/2014/main" id="{B616841F-E07D-F1A4-96B9-1A92175E29EA}"/>
                </a:ext>
              </a:extLst>
            </p:cNvPr>
            <p:cNvSpPr txBox="1"/>
            <p:nvPr/>
          </p:nvSpPr>
          <p:spPr>
            <a:xfrm>
              <a:off x="8177796" y="3563325"/>
              <a:ext cx="3522357" cy="2585323"/>
            </a:xfrm>
            <a:prstGeom prst="rect">
              <a:avLst/>
            </a:prstGeom>
            <a:noFill/>
          </p:spPr>
          <p:txBody>
            <a:bodyPr wrap="square" rtlCol="0">
              <a:spAutoFit/>
            </a:bodyPr>
            <a:lstStyle/>
            <a:p>
              <a:endParaRPr lang="en-US" altLang="zh-CN" b="1" dirty="0"/>
            </a:p>
            <a:p>
              <a:pPr algn="ctr"/>
              <a:r>
                <a:rPr lang="zh-CN" altLang="en-US" b="1" dirty="0"/>
                <a:t>功能创新</a:t>
              </a:r>
              <a:endParaRPr lang="en-US" altLang="zh-CN" b="1" dirty="0"/>
            </a:p>
            <a:p>
              <a:r>
                <a:rPr lang="zh-CN" altLang="en-US" dirty="0"/>
                <a:t>可视化网络图展示 </a:t>
              </a:r>
              <a:r>
                <a:rPr lang="en-US" altLang="zh-CN" dirty="0"/>
                <a:t>Hugging Face </a:t>
              </a:r>
              <a:r>
                <a:rPr lang="zh-CN" altLang="en-US" dirty="0"/>
                <a:t>平台上基础模型与其衍生模型及 </a:t>
              </a:r>
              <a:r>
                <a:rPr lang="en-US" altLang="zh-CN" dirty="0"/>
                <a:t>Web </a:t>
              </a:r>
              <a:r>
                <a:rPr lang="zh-CN" altLang="en-US" dirty="0"/>
                <a:t>应用之间的关系，</a:t>
              </a:r>
              <a:r>
                <a:rPr lang="zh-CN" altLang="en-US" sz="1800" dirty="0"/>
                <a:t>洞察出模型间的生态关系与各自的影响力 </a:t>
              </a:r>
              <a:r>
                <a:rPr lang="zh-CN" altLang="en-US" dirty="0"/>
                <a:t>；数据大屏展示当前开源</a:t>
              </a:r>
              <a:r>
                <a:rPr lang="en-US" altLang="zh-CN" dirty="0"/>
                <a:t>AI</a:t>
              </a:r>
              <a:r>
                <a:rPr lang="zh-CN" altLang="en-US" dirty="0"/>
                <a:t>大模型的发展状况，展示</a:t>
              </a:r>
              <a:r>
                <a:rPr lang="en-US" altLang="zh-CN" dirty="0"/>
                <a:t>GitHub</a:t>
              </a:r>
              <a:r>
                <a:rPr lang="zh-CN" altLang="en-US" dirty="0"/>
                <a:t>平台上的历史活跃趋势。</a:t>
              </a:r>
            </a:p>
          </p:txBody>
        </p:sp>
        <p:pic>
          <p:nvPicPr>
            <p:cNvPr id="7" name="图形 6">
              <a:extLst>
                <a:ext uri="{FF2B5EF4-FFF2-40B4-BE49-F238E27FC236}">
                  <a16:creationId xmlns:a16="http://schemas.microsoft.com/office/drawing/2014/main" id="{AF8D53BC-F004-281A-6B15-E4EE25DC1A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65383" y="1944236"/>
              <a:ext cx="1905000" cy="1905000"/>
            </a:xfrm>
            <a:prstGeom prst="rect">
              <a:avLst/>
            </a:prstGeom>
          </p:spPr>
        </p:pic>
        <p:sp>
          <p:nvSpPr>
            <p:cNvPr id="8" name="文本框 7">
              <a:extLst>
                <a:ext uri="{FF2B5EF4-FFF2-40B4-BE49-F238E27FC236}">
                  <a16:creationId xmlns:a16="http://schemas.microsoft.com/office/drawing/2014/main" id="{353F3432-567C-B687-19FE-3C8646B5D22D}"/>
                </a:ext>
              </a:extLst>
            </p:cNvPr>
            <p:cNvSpPr txBox="1"/>
            <p:nvPr/>
          </p:nvSpPr>
          <p:spPr>
            <a:xfrm>
              <a:off x="295451" y="3904689"/>
              <a:ext cx="3142825" cy="1477328"/>
            </a:xfrm>
            <a:prstGeom prst="rect">
              <a:avLst/>
            </a:prstGeom>
            <a:noFill/>
          </p:spPr>
          <p:txBody>
            <a:bodyPr wrap="square" rtlCol="0">
              <a:spAutoFit/>
            </a:bodyPr>
            <a:lstStyle/>
            <a:p>
              <a:pPr algn="ctr"/>
              <a:r>
                <a:rPr lang="zh-CN" altLang="en-US" b="1" dirty="0"/>
                <a:t>领域创新</a:t>
              </a:r>
              <a:endParaRPr lang="en-US" altLang="zh-CN" b="1" dirty="0"/>
            </a:p>
            <a:p>
              <a:r>
                <a:rPr lang="zh-CN" altLang="en-US" dirty="0"/>
                <a:t>为</a:t>
              </a:r>
              <a:r>
                <a:rPr lang="en-US" altLang="zh-CN" dirty="0"/>
                <a:t>AI</a:t>
              </a:r>
              <a:r>
                <a:rPr lang="zh-CN" altLang="en-US" dirty="0"/>
                <a:t>大模型这一独特开源生态领域提供了可视化分析与洞察服务。</a:t>
              </a:r>
              <a:endParaRPr lang="en-US" altLang="zh-CN" dirty="0"/>
            </a:p>
            <a:p>
              <a:pPr algn="ctr"/>
              <a:endParaRPr lang="zh-CN" altLang="en-US" dirty="0"/>
            </a:p>
          </p:txBody>
        </p:sp>
        <p:pic>
          <p:nvPicPr>
            <p:cNvPr id="10" name="图形 9">
              <a:extLst>
                <a:ext uri="{FF2B5EF4-FFF2-40B4-BE49-F238E27FC236}">
                  <a16:creationId xmlns:a16="http://schemas.microsoft.com/office/drawing/2014/main" id="{CC891458-5DC2-C63B-8785-7E9A99B80A8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72664" y="1944236"/>
              <a:ext cx="1905000" cy="1905000"/>
            </a:xfrm>
            <a:prstGeom prst="rect">
              <a:avLst/>
            </a:prstGeom>
          </p:spPr>
        </p:pic>
        <p:sp>
          <p:nvSpPr>
            <p:cNvPr id="11" name="文本框 10">
              <a:extLst>
                <a:ext uri="{FF2B5EF4-FFF2-40B4-BE49-F238E27FC236}">
                  <a16:creationId xmlns:a16="http://schemas.microsoft.com/office/drawing/2014/main" id="{21F28C3F-0FF6-945B-8453-DB7B53F8B2EB}"/>
                </a:ext>
              </a:extLst>
            </p:cNvPr>
            <p:cNvSpPr txBox="1"/>
            <p:nvPr/>
          </p:nvSpPr>
          <p:spPr>
            <a:xfrm>
              <a:off x="4340994" y="3849236"/>
              <a:ext cx="2743200" cy="2308324"/>
            </a:xfrm>
            <a:prstGeom prst="rect">
              <a:avLst/>
            </a:prstGeom>
            <a:noFill/>
          </p:spPr>
          <p:txBody>
            <a:bodyPr wrap="square" rtlCol="0">
              <a:spAutoFit/>
            </a:bodyPr>
            <a:lstStyle/>
            <a:p>
              <a:pPr algn="ctr"/>
              <a:r>
                <a:rPr lang="zh-CN" altLang="en-US" b="1" dirty="0"/>
                <a:t>算法创新</a:t>
              </a:r>
              <a:endParaRPr lang="en-US" altLang="zh-CN" b="1" dirty="0"/>
            </a:p>
            <a:p>
              <a:r>
                <a:rPr lang="zh-CN" altLang="en-US" dirty="0"/>
                <a:t>设计新的专属于开源</a:t>
              </a:r>
              <a:r>
                <a:rPr lang="en-US" altLang="zh-CN" dirty="0"/>
                <a:t>AI</a:t>
              </a:r>
              <a:r>
                <a:rPr lang="zh-CN" altLang="en-US" dirty="0"/>
                <a:t>大模型领域的影响力评估标准，不仅基于下载量、点赞数，还考虑模型的衍生版本和 </a:t>
              </a:r>
              <a:r>
                <a:rPr lang="en-US" altLang="zh-CN" dirty="0"/>
                <a:t>Web </a:t>
              </a:r>
              <a:r>
                <a:rPr lang="zh-CN" altLang="en-US" dirty="0"/>
                <a:t>应用活跃度等。</a:t>
              </a:r>
              <a:endParaRPr lang="en-US" altLang="zh-CN" dirty="0"/>
            </a:p>
            <a:p>
              <a:endParaRPr lang="zh-CN" altLang="en-US" dirty="0"/>
            </a:p>
          </p:txBody>
        </p:sp>
        <p:pic>
          <p:nvPicPr>
            <p:cNvPr id="14" name="图形 13">
              <a:extLst>
                <a:ext uri="{FF2B5EF4-FFF2-40B4-BE49-F238E27FC236}">
                  <a16:creationId xmlns:a16="http://schemas.microsoft.com/office/drawing/2014/main" id="{CB288A96-42C8-70C1-6796-35A61FAD8A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86475" y="1944236"/>
              <a:ext cx="1905000" cy="1905000"/>
            </a:xfrm>
            <a:prstGeom prst="rect">
              <a:avLst/>
            </a:prstGeom>
          </p:spPr>
        </p:pic>
      </p:grpSp>
    </p:spTree>
    <p:extLst>
      <p:ext uri="{BB962C8B-B14F-4D97-AF65-F5344CB8AC3E}">
        <p14:creationId xmlns:p14="http://schemas.microsoft.com/office/powerpoint/2010/main" val="1981035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0067-E3B4-6587-22CC-BA5FC4160991}"/>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D627FBEB-CD12-B7B1-2966-4F8D857F6C22}"/>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五、应用场景</a:t>
            </a:r>
          </a:p>
        </p:txBody>
      </p:sp>
      <p:sp>
        <p:nvSpPr>
          <p:cNvPr id="2" name="文本框 1">
            <a:extLst>
              <a:ext uri="{FF2B5EF4-FFF2-40B4-BE49-F238E27FC236}">
                <a16:creationId xmlns:a16="http://schemas.microsoft.com/office/drawing/2014/main" id="{AEBBD6A9-CCE5-09E5-C8BD-FE66B93499EC}"/>
              </a:ext>
            </a:extLst>
          </p:cNvPr>
          <p:cNvSpPr txBox="1"/>
          <p:nvPr/>
        </p:nvSpPr>
        <p:spPr>
          <a:xfrm>
            <a:off x="647747" y="1415909"/>
            <a:ext cx="3356362" cy="400110"/>
          </a:xfrm>
          <a:prstGeom prst="rect">
            <a:avLst/>
          </a:prstGeom>
          <a:noFill/>
        </p:spPr>
        <p:txBody>
          <a:bodyPr wrap="square" rtlCol="0">
            <a:spAutoFit/>
          </a:bodyPr>
          <a:lstStyle/>
          <a:p>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用户画像</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9F6A8AC0-1FF8-C120-0D3E-06DAD16C8B08}"/>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a:extLst>
              <a:ext uri="{FF2B5EF4-FFF2-40B4-BE49-F238E27FC236}">
                <a16:creationId xmlns:a16="http://schemas.microsoft.com/office/drawing/2014/main" id="{05BA50E4-E2AD-AF7A-E6E6-D55BC0078965}"/>
              </a:ext>
            </a:extLst>
          </p:cNvPr>
          <p:cNvGrpSpPr/>
          <p:nvPr/>
        </p:nvGrpSpPr>
        <p:grpSpPr>
          <a:xfrm>
            <a:off x="559145" y="2479361"/>
            <a:ext cx="3137835" cy="3502578"/>
            <a:chOff x="559145" y="2479361"/>
            <a:chExt cx="3137835" cy="3502578"/>
          </a:xfrm>
        </p:grpSpPr>
        <p:grpSp>
          <p:nvGrpSpPr>
            <p:cNvPr id="15" name="组合 14">
              <a:extLst>
                <a:ext uri="{FF2B5EF4-FFF2-40B4-BE49-F238E27FC236}">
                  <a16:creationId xmlns:a16="http://schemas.microsoft.com/office/drawing/2014/main" id="{49C68F87-65D1-53E5-453A-B07F4C3C323A}"/>
                </a:ext>
              </a:extLst>
            </p:cNvPr>
            <p:cNvGrpSpPr/>
            <p:nvPr/>
          </p:nvGrpSpPr>
          <p:grpSpPr>
            <a:xfrm>
              <a:off x="559145" y="2479361"/>
              <a:ext cx="3137835" cy="2228964"/>
              <a:chOff x="789063" y="2476500"/>
              <a:chExt cx="3137835" cy="2228964"/>
            </a:xfrm>
          </p:grpSpPr>
          <p:pic>
            <p:nvPicPr>
              <p:cNvPr id="7" name="图形 6">
                <a:extLst>
                  <a:ext uri="{FF2B5EF4-FFF2-40B4-BE49-F238E27FC236}">
                    <a16:creationId xmlns:a16="http://schemas.microsoft.com/office/drawing/2014/main" id="{CC506E79-3CD3-8B02-744E-AC7BD62D36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73428" y="2476500"/>
                <a:ext cx="1905000" cy="1905000"/>
              </a:xfrm>
              <a:prstGeom prst="rect">
                <a:avLst/>
              </a:prstGeom>
            </p:spPr>
          </p:pic>
          <p:sp>
            <p:nvSpPr>
              <p:cNvPr id="8" name="文本框 7">
                <a:extLst>
                  <a:ext uri="{FF2B5EF4-FFF2-40B4-BE49-F238E27FC236}">
                    <a16:creationId xmlns:a16="http://schemas.microsoft.com/office/drawing/2014/main" id="{89762173-DCC5-697D-A664-875C472079E6}"/>
                  </a:ext>
                </a:extLst>
              </p:cNvPr>
              <p:cNvSpPr txBox="1"/>
              <p:nvPr/>
            </p:nvSpPr>
            <p:spPr>
              <a:xfrm>
                <a:off x="789063" y="4305354"/>
                <a:ext cx="3137835" cy="400110"/>
              </a:xfrm>
              <a:prstGeom prst="rect">
                <a:avLst/>
              </a:prstGeom>
              <a:noFill/>
            </p:spPr>
            <p:txBody>
              <a:bodyPr wrap="square" rtlCol="0">
                <a:spAutoFit/>
              </a:bodyPr>
              <a:lstStyle/>
              <a:p>
                <a:pPr algn="ctr"/>
                <a:r>
                  <a:rPr lang="en-US" altLang="zh-CN" sz="2000" b="1" dirty="0"/>
                  <a:t>AI</a:t>
                </a:r>
                <a:r>
                  <a:rPr lang="zh-CN" altLang="en-US" sz="2000" b="1" dirty="0"/>
                  <a:t>研究者</a:t>
                </a:r>
              </a:p>
            </p:txBody>
          </p:sp>
        </p:grpSp>
        <p:sp>
          <p:nvSpPr>
            <p:cNvPr id="18" name="文本框 17">
              <a:extLst>
                <a:ext uri="{FF2B5EF4-FFF2-40B4-BE49-F238E27FC236}">
                  <a16:creationId xmlns:a16="http://schemas.microsoft.com/office/drawing/2014/main" id="{F421AE6E-8043-4650-20B8-FAD5121AE749}"/>
                </a:ext>
              </a:extLst>
            </p:cNvPr>
            <p:cNvSpPr txBox="1"/>
            <p:nvPr/>
          </p:nvSpPr>
          <p:spPr>
            <a:xfrm>
              <a:off x="789063" y="4781610"/>
              <a:ext cx="2907917" cy="1200329"/>
            </a:xfrm>
            <a:prstGeom prst="rect">
              <a:avLst/>
            </a:prstGeom>
            <a:noFill/>
          </p:spPr>
          <p:txBody>
            <a:bodyPr wrap="square" rtlCol="0">
              <a:spAutoFit/>
            </a:bodyPr>
            <a:lstStyle/>
            <a:p>
              <a:r>
                <a:rPr lang="zh-CN" altLang="en-US" dirty="0"/>
                <a:t>帮助研究者们快速了解大模型的影响力，选择合适的基础模型或微调模型进行研究与应用。</a:t>
              </a:r>
            </a:p>
          </p:txBody>
        </p:sp>
      </p:grpSp>
      <p:grpSp>
        <p:nvGrpSpPr>
          <p:cNvPr id="22" name="组合 21">
            <a:extLst>
              <a:ext uri="{FF2B5EF4-FFF2-40B4-BE49-F238E27FC236}">
                <a16:creationId xmlns:a16="http://schemas.microsoft.com/office/drawing/2014/main" id="{52DF4E89-C9C4-4E63-2955-2612F3DDEA4B}"/>
              </a:ext>
            </a:extLst>
          </p:cNvPr>
          <p:cNvGrpSpPr/>
          <p:nvPr/>
        </p:nvGrpSpPr>
        <p:grpSpPr>
          <a:xfrm>
            <a:off x="4386135" y="2476500"/>
            <a:ext cx="3137835" cy="4059436"/>
            <a:chOff x="4386135" y="2476500"/>
            <a:chExt cx="3137835" cy="4059436"/>
          </a:xfrm>
        </p:grpSpPr>
        <p:grpSp>
          <p:nvGrpSpPr>
            <p:cNvPr id="16" name="组合 15">
              <a:extLst>
                <a:ext uri="{FF2B5EF4-FFF2-40B4-BE49-F238E27FC236}">
                  <a16:creationId xmlns:a16="http://schemas.microsoft.com/office/drawing/2014/main" id="{03AEBF0D-D9A5-F93F-5E55-D0BD0D356BD6}"/>
                </a:ext>
              </a:extLst>
            </p:cNvPr>
            <p:cNvGrpSpPr/>
            <p:nvPr/>
          </p:nvGrpSpPr>
          <p:grpSpPr>
            <a:xfrm>
              <a:off x="4386135" y="2476500"/>
              <a:ext cx="3137835" cy="2231825"/>
              <a:chOff x="4511263" y="2476500"/>
              <a:chExt cx="3137835" cy="2231825"/>
            </a:xfrm>
          </p:grpSpPr>
          <p:pic>
            <p:nvPicPr>
              <p:cNvPr id="10" name="图形 9">
                <a:extLst>
                  <a:ext uri="{FF2B5EF4-FFF2-40B4-BE49-F238E27FC236}">
                    <a16:creationId xmlns:a16="http://schemas.microsoft.com/office/drawing/2014/main" id="{A68D38D1-461E-B2D3-F4F8-E60919A99BD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43499" y="2476500"/>
                <a:ext cx="1905000" cy="1905000"/>
              </a:xfrm>
              <a:prstGeom prst="rect">
                <a:avLst/>
              </a:prstGeom>
            </p:spPr>
          </p:pic>
          <p:sp>
            <p:nvSpPr>
              <p:cNvPr id="13" name="文本框 12">
                <a:extLst>
                  <a:ext uri="{FF2B5EF4-FFF2-40B4-BE49-F238E27FC236}">
                    <a16:creationId xmlns:a16="http://schemas.microsoft.com/office/drawing/2014/main" id="{E8BAC889-7824-5232-633C-6D64F1E3C3C0}"/>
                  </a:ext>
                </a:extLst>
              </p:cNvPr>
              <p:cNvSpPr txBox="1"/>
              <p:nvPr/>
            </p:nvSpPr>
            <p:spPr>
              <a:xfrm>
                <a:off x="4511263" y="4308215"/>
                <a:ext cx="3137835" cy="400110"/>
              </a:xfrm>
              <a:prstGeom prst="rect">
                <a:avLst/>
              </a:prstGeom>
              <a:noFill/>
            </p:spPr>
            <p:txBody>
              <a:bodyPr wrap="square" rtlCol="0">
                <a:spAutoFit/>
              </a:bodyPr>
              <a:lstStyle/>
              <a:p>
                <a:pPr algn="ctr"/>
                <a:r>
                  <a:rPr lang="zh-CN" altLang="en-US" sz="2000" b="1" dirty="0"/>
                  <a:t>组织与企业</a:t>
                </a:r>
              </a:p>
            </p:txBody>
          </p:sp>
        </p:grpSp>
        <p:sp>
          <p:nvSpPr>
            <p:cNvPr id="19" name="文本框 18">
              <a:extLst>
                <a:ext uri="{FF2B5EF4-FFF2-40B4-BE49-F238E27FC236}">
                  <a16:creationId xmlns:a16="http://schemas.microsoft.com/office/drawing/2014/main" id="{2F604435-ABF3-A104-7AC6-77FB307A1C4D}"/>
                </a:ext>
              </a:extLst>
            </p:cNvPr>
            <p:cNvSpPr txBox="1"/>
            <p:nvPr/>
          </p:nvSpPr>
          <p:spPr>
            <a:xfrm>
              <a:off x="4501093" y="4781610"/>
              <a:ext cx="2907917" cy="1754326"/>
            </a:xfrm>
            <a:prstGeom prst="rect">
              <a:avLst/>
            </a:prstGeom>
            <a:noFill/>
          </p:spPr>
          <p:txBody>
            <a:bodyPr wrap="square" rtlCol="0">
              <a:spAutoFit/>
            </a:bodyPr>
            <a:lstStyle/>
            <a:p>
              <a:r>
                <a:rPr lang="zh-CN" altLang="en-US" dirty="0"/>
                <a:t>企业作为模型开发者，可以直观地看到自己模型的影响力；作为模型使用者，可以据可视化网络图找到合适的微调模型，加速项目开发。</a:t>
              </a:r>
            </a:p>
          </p:txBody>
        </p:sp>
      </p:grpSp>
      <p:grpSp>
        <p:nvGrpSpPr>
          <p:cNvPr id="23" name="组合 22">
            <a:extLst>
              <a:ext uri="{FF2B5EF4-FFF2-40B4-BE49-F238E27FC236}">
                <a16:creationId xmlns:a16="http://schemas.microsoft.com/office/drawing/2014/main" id="{D49F3D4E-72CE-0DEB-B30D-3752B402B0E6}"/>
              </a:ext>
            </a:extLst>
          </p:cNvPr>
          <p:cNvGrpSpPr/>
          <p:nvPr/>
        </p:nvGrpSpPr>
        <p:grpSpPr>
          <a:xfrm>
            <a:off x="8495020" y="2400354"/>
            <a:ext cx="3137835" cy="4135582"/>
            <a:chOff x="8495020" y="2400354"/>
            <a:chExt cx="3137835" cy="4135582"/>
          </a:xfrm>
        </p:grpSpPr>
        <p:grpSp>
          <p:nvGrpSpPr>
            <p:cNvPr id="17" name="组合 16">
              <a:extLst>
                <a:ext uri="{FF2B5EF4-FFF2-40B4-BE49-F238E27FC236}">
                  <a16:creationId xmlns:a16="http://schemas.microsoft.com/office/drawing/2014/main" id="{768FA040-81DF-10C5-A7C7-13AB12237B39}"/>
                </a:ext>
              </a:extLst>
            </p:cNvPr>
            <p:cNvGrpSpPr/>
            <p:nvPr/>
          </p:nvGrpSpPr>
          <p:grpSpPr>
            <a:xfrm>
              <a:off x="8495020" y="2400354"/>
              <a:ext cx="3137835" cy="2381256"/>
              <a:chOff x="8661245" y="2400354"/>
              <a:chExt cx="3137835" cy="2381256"/>
            </a:xfrm>
          </p:grpSpPr>
          <p:pic>
            <p:nvPicPr>
              <p:cNvPr id="12" name="图形 11">
                <a:extLst>
                  <a:ext uri="{FF2B5EF4-FFF2-40B4-BE49-F238E27FC236}">
                    <a16:creationId xmlns:a16="http://schemas.microsoft.com/office/drawing/2014/main" id="{DD973B96-AE39-AF9D-F078-ED4436674B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77663" y="2400354"/>
                <a:ext cx="1905000" cy="1905000"/>
              </a:xfrm>
              <a:prstGeom prst="rect">
                <a:avLst/>
              </a:prstGeom>
            </p:spPr>
          </p:pic>
          <p:sp>
            <p:nvSpPr>
              <p:cNvPr id="14" name="文本框 13">
                <a:extLst>
                  <a:ext uri="{FF2B5EF4-FFF2-40B4-BE49-F238E27FC236}">
                    <a16:creationId xmlns:a16="http://schemas.microsoft.com/office/drawing/2014/main" id="{B49C35CC-F2A1-A426-B1D5-FB64799FF0EE}"/>
                  </a:ext>
                </a:extLst>
              </p:cNvPr>
              <p:cNvSpPr txBox="1"/>
              <p:nvPr/>
            </p:nvSpPr>
            <p:spPr>
              <a:xfrm>
                <a:off x="8661245" y="4381500"/>
                <a:ext cx="3137835" cy="400110"/>
              </a:xfrm>
              <a:prstGeom prst="rect">
                <a:avLst/>
              </a:prstGeom>
              <a:noFill/>
            </p:spPr>
            <p:txBody>
              <a:bodyPr wrap="square" rtlCol="0">
                <a:spAutoFit/>
              </a:bodyPr>
              <a:lstStyle/>
              <a:p>
                <a:pPr algn="ctr"/>
                <a:r>
                  <a:rPr lang="zh-CN" altLang="en-US" sz="2000" b="1" dirty="0"/>
                  <a:t>大模型开源平台</a:t>
                </a:r>
              </a:p>
            </p:txBody>
          </p:sp>
        </p:grpSp>
        <p:sp>
          <p:nvSpPr>
            <p:cNvPr id="20" name="文本框 19">
              <a:extLst>
                <a:ext uri="{FF2B5EF4-FFF2-40B4-BE49-F238E27FC236}">
                  <a16:creationId xmlns:a16="http://schemas.microsoft.com/office/drawing/2014/main" id="{3008511F-A857-7488-3AF6-DC018FDEF8F2}"/>
                </a:ext>
              </a:extLst>
            </p:cNvPr>
            <p:cNvSpPr txBox="1"/>
            <p:nvPr/>
          </p:nvSpPr>
          <p:spPr>
            <a:xfrm>
              <a:off x="8903368" y="4781610"/>
              <a:ext cx="2576571" cy="1754326"/>
            </a:xfrm>
            <a:prstGeom prst="rect">
              <a:avLst/>
            </a:prstGeom>
            <a:noFill/>
          </p:spPr>
          <p:txBody>
            <a:bodyPr wrap="square" rtlCol="0">
              <a:spAutoFit/>
            </a:bodyPr>
            <a:lstStyle/>
            <a:p>
              <a:r>
                <a:rPr lang="zh-CN" altLang="en-US" dirty="0"/>
                <a:t>在网页直观地展现平台的大模型生态，用于评估大模型的受欢迎度和应用广度，指导平台用户的选择，优化模型推荐机制。</a:t>
              </a:r>
            </a:p>
          </p:txBody>
        </p:sp>
      </p:grpSp>
    </p:spTree>
    <p:extLst>
      <p:ext uri="{BB962C8B-B14F-4D97-AF65-F5344CB8AC3E}">
        <p14:creationId xmlns:p14="http://schemas.microsoft.com/office/powerpoint/2010/main" val="1625385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0A08-6171-07F3-A199-141D1C0359A9}"/>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44D777D5-F026-4735-E74E-216C0A981D62}"/>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五、应用场景</a:t>
            </a:r>
          </a:p>
        </p:txBody>
      </p:sp>
      <p:sp>
        <p:nvSpPr>
          <p:cNvPr id="5" name="矩形 4">
            <a:extLst>
              <a:ext uri="{FF2B5EF4-FFF2-40B4-BE49-F238E27FC236}">
                <a16:creationId xmlns:a16="http://schemas.microsoft.com/office/drawing/2014/main" id="{8F3E8A1D-7409-C2B9-0B7D-2ADD5CBCE541}"/>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CDFF26B-2BF4-3783-0E7B-4EBDE18215D0}"/>
              </a:ext>
            </a:extLst>
          </p:cNvPr>
          <p:cNvSpPr txBox="1"/>
          <p:nvPr/>
        </p:nvSpPr>
        <p:spPr>
          <a:xfrm>
            <a:off x="888817" y="2163385"/>
            <a:ext cx="10064732" cy="3738588"/>
          </a:xfrm>
          <a:prstGeom prst="rect">
            <a:avLst/>
          </a:prstGeom>
          <a:noFill/>
        </p:spPr>
        <p:txBody>
          <a:bodyPr wrap="square" rtlCol="0">
            <a:spAutoFit/>
          </a:bodyPr>
          <a:lstStyle/>
          <a:p>
            <a:pPr>
              <a:lnSpc>
                <a:spcPct val="150000"/>
              </a:lnSpc>
            </a:pPr>
            <a:r>
              <a:rPr lang="en-US" altLang="zh-CN" sz="2000" b="1" dirty="0"/>
              <a:t>	</a:t>
            </a:r>
            <a:r>
              <a:rPr lang="zh-CN" altLang="en-US" sz="2000" dirty="0"/>
              <a:t>需要说明的是，我们当前的数据仅包括点赞量前</a:t>
            </a:r>
            <a:r>
              <a:rPr lang="en-US" altLang="zh-CN" sz="2000" dirty="0"/>
              <a:t>1000</a:t>
            </a:r>
            <a:r>
              <a:rPr lang="zh-CN" altLang="en-US" sz="2000" dirty="0"/>
              <a:t>的模型以及其一阶衍生模型，并且有些创作者在发布模型时并没有依照</a:t>
            </a:r>
            <a:r>
              <a:rPr lang="en-US" altLang="zh-CN" sz="2000" dirty="0"/>
              <a:t>`Model Tree`</a:t>
            </a:r>
            <a:r>
              <a:rPr lang="zh-CN" altLang="en-US" sz="2000" dirty="0"/>
              <a:t>的规则，因此当前部分模型的关系网络可能并不全面。而即便如此，我们也可以从中洞察出模型间的生态关系与各自的影响力。并且，我们的应用具有高度可扩展性，只需要提供一个更加完备的数据集，我们的可视化就会更加全面。随着大模型技术的持续飞速发展，以及 </a:t>
            </a:r>
            <a:r>
              <a:rPr lang="en-US" altLang="zh-CN" sz="2000" dirty="0"/>
              <a:t>Hugging Face </a:t>
            </a:r>
            <a:r>
              <a:rPr lang="zh-CN" altLang="en-US" sz="2000" dirty="0"/>
              <a:t>开源平台的生态不断壮大，大模型的开发成本和门槛将逐步降低，吸引越来越多的开发者投入这一领域。因此，我们的应用在未来必将具备更高的实用价值，成为理解和探索大模型生态的重要工具。</a:t>
            </a:r>
            <a:endParaRPr lang="en-US" altLang="zh-CN" sz="2000" dirty="0"/>
          </a:p>
        </p:txBody>
      </p:sp>
      <p:sp>
        <p:nvSpPr>
          <p:cNvPr id="7" name="文本框 6">
            <a:extLst>
              <a:ext uri="{FF2B5EF4-FFF2-40B4-BE49-F238E27FC236}">
                <a16:creationId xmlns:a16="http://schemas.microsoft.com/office/drawing/2014/main" id="{3EF320CE-D574-1DAA-A9BE-A31444043193}"/>
              </a:ext>
            </a:extLst>
          </p:cNvPr>
          <p:cNvSpPr txBox="1"/>
          <p:nvPr/>
        </p:nvSpPr>
        <p:spPr>
          <a:xfrm>
            <a:off x="647746" y="1415909"/>
            <a:ext cx="4102053" cy="400110"/>
          </a:xfrm>
          <a:prstGeom prst="rect">
            <a:avLst/>
          </a:prstGeom>
          <a:noFill/>
        </p:spPr>
        <p:txBody>
          <a:bodyPr wrap="square" rtlCol="0">
            <a:spAutoFit/>
          </a:bodyPr>
          <a:lstStyle/>
          <a:p>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本应用必将在未来发挥更大价值</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74621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C0C09-BCF5-421A-5FEE-9F92C4E18323}"/>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9090FB5A-546B-C0CB-F6CA-64BC3F36F670}"/>
              </a:ext>
            </a:extLst>
          </p:cNvPr>
          <p:cNvSpPr txBox="1"/>
          <p:nvPr/>
        </p:nvSpPr>
        <p:spPr>
          <a:xfrm>
            <a:off x="3098182" y="306544"/>
            <a:ext cx="5995635" cy="769441"/>
          </a:xfrm>
          <a:prstGeom prst="rect">
            <a:avLst/>
          </a:prstGeom>
          <a:noFill/>
          <a:effectLst>
            <a:outerShdw blurRad="50800" dist="38100" dir="2700000" algn="tl" rotWithShape="0">
              <a:prstClr val="black">
                <a:alpha val="18000"/>
              </a:prstClr>
            </a:outerShdw>
            <a:reflection blurRad="6350" stA="95000" endA="300" endPos="54000" dir="5400000" sy="-100000" algn="bl" rotWithShape="0"/>
          </a:effectLst>
        </p:spPr>
        <p:txBody>
          <a:bodyPr wrap="square" rtlCol="0">
            <a:spAutoFit/>
          </a:bodyPr>
          <a:lstStyle/>
          <a:p>
            <a:pPr algn="ctr"/>
            <a:r>
              <a:rPr lang="zh-CN" altLang="en-US" sz="4400" dirty="0">
                <a:ln w="13462">
                  <a:noFill/>
                  <a:prstDash val="solid"/>
                </a:ln>
                <a:solidFill>
                  <a:srgbClr val="0E43C6"/>
                </a:solidFill>
                <a:effectLst>
                  <a:outerShdw dist="38100" dir="2700000" algn="bl" rotWithShape="0">
                    <a:schemeClr val="accent5"/>
                  </a:outerShdw>
                </a:effectLst>
                <a:latin typeface="微软雅黑" panose="020B0503020204020204" pitchFamily="34" charset="-122"/>
                <a:ea typeface="微软雅黑" panose="020B0503020204020204" pitchFamily="34" charset="-122"/>
              </a:rPr>
              <a:t>五、应用场景</a:t>
            </a:r>
          </a:p>
        </p:txBody>
      </p:sp>
      <p:sp>
        <p:nvSpPr>
          <p:cNvPr id="2" name="文本框 1">
            <a:extLst>
              <a:ext uri="{FF2B5EF4-FFF2-40B4-BE49-F238E27FC236}">
                <a16:creationId xmlns:a16="http://schemas.microsoft.com/office/drawing/2014/main" id="{42B4BECC-A067-2ED1-B4DF-05E507415BD6}"/>
              </a:ext>
            </a:extLst>
          </p:cNvPr>
          <p:cNvSpPr txBox="1"/>
          <p:nvPr/>
        </p:nvSpPr>
        <p:spPr>
          <a:xfrm>
            <a:off x="647747" y="1415909"/>
            <a:ext cx="3356362" cy="400110"/>
          </a:xfrm>
          <a:prstGeom prst="rect">
            <a:avLst/>
          </a:prstGeom>
          <a:noFill/>
        </p:spPr>
        <p:txBody>
          <a:bodyPr wrap="square" rtlCol="0">
            <a:spAutoFit/>
          </a:bodyPr>
          <a:lstStyle/>
          <a:p>
            <a:r>
              <a:rPr lang="zh-CN" altLang="en-US" sz="2000" b="1" dirty="0">
                <a:solidFill>
                  <a:prstClr val="black">
                    <a:lumMod val="75000"/>
                    <a:lumOff val="25000"/>
                  </a:prstClr>
                </a:solidFill>
                <a:latin typeface="微软雅黑" panose="020B0503020204020204" pitchFamily="34" charset="-122"/>
                <a:ea typeface="微软雅黑" panose="020B0503020204020204" pitchFamily="34" charset="-122"/>
                <a:cs typeface="Arial" panose="020B0604020202090204" pitchFamily="34" charset="0"/>
              </a:rPr>
              <a:t>未来展望</a:t>
            </a:r>
            <a:endParaRPr lang="zh-CN" altLang="en-US"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999C0A8E-B8BE-5F25-A355-DC4F1E963A8D}"/>
              </a:ext>
            </a:extLst>
          </p:cNvPr>
          <p:cNvSpPr/>
          <p:nvPr/>
        </p:nvSpPr>
        <p:spPr>
          <a:xfrm>
            <a:off x="789063" y="1843064"/>
            <a:ext cx="439404" cy="4571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59ABB40-8ECE-8C11-F0FE-D5EF3DD49E45}"/>
              </a:ext>
            </a:extLst>
          </p:cNvPr>
          <p:cNvSpPr txBox="1"/>
          <p:nvPr/>
        </p:nvSpPr>
        <p:spPr>
          <a:xfrm>
            <a:off x="888817" y="2163385"/>
            <a:ext cx="10064732" cy="4200252"/>
          </a:xfrm>
          <a:prstGeom prst="rect">
            <a:avLst/>
          </a:prstGeom>
          <a:noFill/>
        </p:spPr>
        <p:txBody>
          <a:bodyPr wrap="square" rtlCol="0">
            <a:spAutoFit/>
          </a:bodyPr>
          <a:lstStyle/>
          <a:p>
            <a:pPr>
              <a:lnSpc>
                <a:spcPct val="150000"/>
              </a:lnSpc>
            </a:pPr>
            <a:r>
              <a:rPr lang="en-US" altLang="zh-CN" sz="2000" b="1" dirty="0"/>
              <a:t>	</a:t>
            </a:r>
            <a:r>
              <a:rPr lang="zh-CN" altLang="en-US" sz="2000" b="1" dirty="0"/>
              <a:t>扩展</a:t>
            </a:r>
            <a:r>
              <a:rPr lang="en-US" altLang="zh-CN" sz="2000" b="1" dirty="0"/>
              <a:t>Hugging Face</a:t>
            </a:r>
            <a:r>
              <a:rPr lang="zh-CN" altLang="en-US" sz="2000" b="1" dirty="0"/>
              <a:t>历史数据：</a:t>
            </a:r>
            <a:r>
              <a:rPr lang="zh-CN" altLang="en-US" sz="2000" dirty="0"/>
              <a:t>目前</a:t>
            </a:r>
            <a:r>
              <a:rPr lang="en-US" altLang="zh-CN" sz="2000" dirty="0"/>
              <a:t>Hugging Face API</a:t>
            </a:r>
            <a:r>
              <a:rPr lang="zh-CN" altLang="en-US" sz="2000" dirty="0"/>
              <a:t>只能提供实时数据，但缺乏历史记录。如果未来能够获取 </a:t>
            </a:r>
            <a:r>
              <a:rPr lang="en-US" altLang="zh-CN" sz="2000" dirty="0"/>
              <a:t>Hugging Face </a:t>
            </a:r>
            <a:r>
              <a:rPr lang="zh-CN" altLang="en-US" sz="2000" dirty="0"/>
              <a:t>平台的历史数据（如模型下载趋势、</a:t>
            </a:r>
            <a:r>
              <a:rPr lang="en-US" altLang="zh-CN" sz="2000" dirty="0"/>
              <a:t>likes</a:t>
            </a:r>
            <a:r>
              <a:rPr lang="zh-CN" altLang="en-US" sz="2000" dirty="0"/>
              <a:t>数历史变化、版本变化），将能更全面地展示大模型的发展路径与动态影响力，能构建起更完整的数据大屏。</a:t>
            </a:r>
            <a:endParaRPr lang="en-US" altLang="zh-CN" sz="2000" dirty="0"/>
          </a:p>
          <a:p>
            <a:pPr>
              <a:lnSpc>
                <a:spcPct val="150000"/>
              </a:lnSpc>
            </a:pPr>
            <a:r>
              <a:rPr lang="en-US" altLang="zh-CN" sz="2000" b="1" dirty="0"/>
              <a:t>	</a:t>
            </a:r>
            <a:r>
              <a:rPr lang="zh-CN" altLang="en-US" sz="2000" b="1" dirty="0"/>
              <a:t>整合双平台数据</a:t>
            </a:r>
            <a:r>
              <a:rPr lang="zh-CN" altLang="en-US" sz="2000" dirty="0"/>
              <a:t>：整合</a:t>
            </a:r>
            <a:r>
              <a:rPr lang="en-US" altLang="zh-CN" sz="2000" dirty="0"/>
              <a:t>GitHub</a:t>
            </a:r>
            <a:r>
              <a:rPr lang="zh-CN" altLang="en-US" sz="2000" dirty="0"/>
              <a:t>与</a:t>
            </a:r>
            <a:r>
              <a:rPr lang="en-US" altLang="zh-CN" sz="2000" dirty="0"/>
              <a:t>Hugging Face</a:t>
            </a:r>
            <a:r>
              <a:rPr lang="zh-CN" altLang="en-US" sz="2000" dirty="0"/>
              <a:t>数据，用双平台的数据构建算法，建立完整的大模型生态。考虑到有些组织未做到双平台同步相同更新，这一想法很难实现，而且双平台的模型可能需要人为手动匹配，时间成本较高。</a:t>
            </a:r>
            <a:endParaRPr lang="en-US" altLang="zh-CN" sz="2000" dirty="0"/>
          </a:p>
          <a:p>
            <a:pPr>
              <a:lnSpc>
                <a:spcPct val="150000"/>
              </a:lnSpc>
            </a:pPr>
            <a:r>
              <a:rPr lang="en-US" altLang="zh-CN" sz="2000" b="1" dirty="0"/>
              <a:t>	</a:t>
            </a:r>
            <a:r>
              <a:rPr lang="zh-CN" altLang="en-US" sz="2000" b="1" dirty="0"/>
              <a:t>自动化数据爬取与实时更新</a:t>
            </a:r>
            <a:r>
              <a:rPr lang="zh-CN" altLang="en-US" sz="2000" dirty="0"/>
              <a:t>：实现自动化的数据抓取与更新，确保影响力分析和可视化展示始终基于最新的数据。</a:t>
            </a:r>
            <a:endParaRPr lang="en-US" altLang="zh-CN" sz="2000" dirty="0"/>
          </a:p>
        </p:txBody>
      </p:sp>
    </p:spTree>
    <p:extLst>
      <p:ext uri="{BB962C8B-B14F-4D97-AF65-F5344CB8AC3E}">
        <p14:creationId xmlns:p14="http://schemas.microsoft.com/office/powerpoint/2010/main" val="3674772199"/>
      </p:ext>
    </p:extLst>
  </p:cSld>
  <p:clrMapOvr>
    <a:masterClrMapping/>
  </p:clrMapOvr>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4546A"/>
      </a:dk2>
      <a:lt2>
        <a:srgbClr val="E7E6E6"/>
      </a:lt2>
      <a:accent1>
        <a:srgbClr val="384FF8"/>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3085</TotalTime>
  <Words>1504</Words>
  <Application>Microsoft Office PowerPoint</Application>
  <PresentationFormat>宽屏</PresentationFormat>
  <Paragraphs>115</Paragraphs>
  <Slides>18</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VIVO SANS SC VF 400</vt:lpstr>
      <vt:lpstr>等线</vt:lpstr>
      <vt:lpstr>等线</vt:lpstr>
      <vt:lpstr>微软雅黑</vt:lpstr>
      <vt:lpstr>Arial</vt:lpstr>
      <vt:lpstr>Calibri</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Jialiang Li</dc:creator>
  <cp:lastModifiedBy>佳亮 李</cp:lastModifiedBy>
  <cp:revision>1074</cp:revision>
  <dcterms:created xsi:type="dcterms:W3CDTF">2024-05-09T02:00:03Z</dcterms:created>
  <dcterms:modified xsi:type="dcterms:W3CDTF">2026-01-01T11:03:35Z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CD24E41C7290C3AF1A6A3B6604B6A926_42</vt:lpwstr>
  </property>
  <property fmtid="{D5CDD505-2E9C-101B-9397-08002B2CF9AE}" pid="3" name="KSOProductBuildVer">
    <vt:lpwstr>2052-6.5.2.8766</vt:lpwstr>
  </property>
</Properties>
</file>